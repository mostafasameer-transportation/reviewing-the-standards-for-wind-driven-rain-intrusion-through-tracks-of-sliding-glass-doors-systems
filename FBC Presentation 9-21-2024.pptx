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15"/>
  </p:notesMasterIdLst>
  <p:sldIdLst>
    <p:sldId id="258" r:id="rId2"/>
    <p:sldId id="507" r:id="rId3"/>
    <p:sldId id="508" r:id="rId4"/>
    <p:sldId id="509" r:id="rId5"/>
    <p:sldId id="469" r:id="rId6"/>
    <p:sldId id="510" r:id="rId7"/>
    <p:sldId id="471" r:id="rId8"/>
    <p:sldId id="511" r:id="rId9"/>
    <p:sldId id="481" r:id="rId10"/>
    <p:sldId id="482" r:id="rId11"/>
    <p:sldId id="479" r:id="rId12"/>
    <p:sldId id="504" r:id="rId13"/>
    <p:sldId id="48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A6E026-2618-447E-BFA8-B40982C2FD39}" type="datetimeFigureOut">
              <a:rPr lang="en-US" smtClean="0"/>
              <a:t>9/21/2024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D6363E-E6EA-40DF-A3AC-8792024085E3}" type="slidenum">
              <a:rPr lang="en-US" smtClean="0"/>
              <a:t>‹#›</a:t>
            </a:fld>
            <a:endParaRPr lang="en-US"/>
          </a:p>
        </p:txBody>
      </p:sp>
    </p:spTree>
    <p:extLst>
      <p:ext uri="{BB962C8B-B14F-4D97-AF65-F5344CB8AC3E}">
        <p14:creationId xmlns:p14="http://schemas.microsoft.com/office/powerpoint/2010/main" val="3236610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F6002F80-D99A-4C79-A641-E62CF6952645}" type="slidenum">
              <a:rPr lang="en-US" smtClean="0"/>
              <a:t>1</a:t>
            </a:fld>
            <a:endParaRPr lang="en-US"/>
          </a:p>
        </p:txBody>
      </p:sp>
    </p:spTree>
    <p:extLst>
      <p:ext uri="{BB962C8B-B14F-4D97-AF65-F5344CB8AC3E}">
        <p14:creationId xmlns:p14="http://schemas.microsoft.com/office/powerpoint/2010/main" val="236880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F6002F80-D99A-4C79-A641-E62CF6952645}" type="slidenum">
              <a:rPr lang="en-US" smtClean="0"/>
              <a:t>5</a:t>
            </a:fld>
            <a:endParaRPr lang="en-US"/>
          </a:p>
        </p:txBody>
      </p:sp>
    </p:spTree>
    <p:extLst>
      <p:ext uri="{BB962C8B-B14F-4D97-AF65-F5344CB8AC3E}">
        <p14:creationId xmlns:p14="http://schemas.microsoft.com/office/powerpoint/2010/main" val="2532655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DA5B6-5F97-CFEA-C84C-F66810CB9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7499D-7480-BA2C-021E-CCAF26B657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EB974-B05C-48AA-BDB7-D630804F8C0E}"/>
              </a:ext>
            </a:extLst>
          </p:cNvPr>
          <p:cNvSpPr>
            <a:spLocks noGrp="1"/>
          </p:cNvSpPr>
          <p:nvPr>
            <p:ph type="body" idx="1"/>
          </p:nvPr>
        </p:nvSpPr>
        <p:spPr/>
        <p:txBody>
          <a:bodyPr/>
          <a:lstStyle/>
          <a:p>
            <a:pPr marL="181240" indent="-18124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30B44B7-E696-6A43-3451-9D9C21BF3088}"/>
              </a:ext>
            </a:extLst>
          </p:cNvPr>
          <p:cNvSpPr>
            <a:spLocks noGrp="1"/>
          </p:cNvSpPr>
          <p:nvPr>
            <p:ph type="sldNum" sz="quarter" idx="5"/>
          </p:nvPr>
        </p:nvSpPr>
        <p:spPr/>
        <p:txBody>
          <a:bodyPr/>
          <a:lstStyle/>
          <a:p>
            <a:fld id="{F6002F80-D99A-4C79-A641-E62CF6952645}" type="slidenum">
              <a:rPr lang="en-US" smtClean="0"/>
              <a:t>7</a:t>
            </a:fld>
            <a:endParaRPr lang="en-US"/>
          </a:p>
        </p:txBody>
      </p:sp>
    </p:spTree>
    <p:extLst>
      <p:ext uri="{BB962C8B-B14F-4D97-AF65-F5344CB8AC3E}">
        <p14:creationId xmlns:p14="http://schemas.microsoft.com/office/powerpoint/2010/main" val="655945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DA5B6-5F97-CFEA-C84C-F66810CB9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7499D-7480-BA2C-021E-CCAF26B657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EB974-B05C-48AA-BDB7-D630804F8C0E}"/>
              </a:ext>
            </a:extLst>
          </p:cNvPr>
          <p:cNvSpPr>
            <a:spLocks noGrp="1"/>
          </p:cNvSpPr>
          <p:nvPr>
            <p:ph type="body" idx="1"/>
          </p:nvPr>
        </p:nvSpPr>
        <p:spPr/>
        <p:txBody>
          <a:bodyPr/>
          <a:lstStyle/>
          <a:p>
            <a:pPr marL="181240" indent="-18124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30B44B7-E696-6A43-3451-9D9C21BF3088}"/>
              </a:ext>
            </a:extLst>
          </p:cNvPr>
          <p:cNvSpPr>
            <a:spLocks noGrp="1"/>
          </p:cNvSpPr>
          <p:nvPr>
            <p:ph type="sldNum" sz="quarter" idx="5"/>
          </p:nvPr>
        </p:nvSpPr>
        <p:spPr/>
        <p:txBody>
          <a:bodyPr/>
          <a:lstStyle/>
          <a:p>
            <a:fld id="{F6002F80-D99A-4C79-A641-E62CF6952645}" type="slidenum">
              <a:rPr lang="en-US" smtClean="0"/>
              <a:t>9</a:t>
            </a:fld>
            <a:endParaRPr lang="en-US"/>
          </a:p>
        </p:txBody>
      </p:sp>
    </p:spTree>
    <p:extLst>
      <p:ext uri="{BB962C8B-B14F-4D97-AF65-F5344CB8AC3E}">
        <p14:creationId xmlns:p14="http://schemas.microsoft.com/office/powerpoint/2010/main" val="1060247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DA5B6-5F97-CFEA-C84C-F66810CB9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7499D-7480-BA2C-021E-CCAF26B657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EB974-B05C-48AA-BDB7-D630804F8C0E}"/>
              </a:ext>
            </a:extLst>
          </p:cNvPr>
          <p:cNvSpPr>
            <a:spLocks noGrp="1"/>
          </p:cNvSpPr>
          <p:nvPr>
            <p:ph type="body" idx="1"/>
          </p:nvPr>
        </p:nvSpPr>
        <p:spPr/>
        <p:txBody>
          <a:bodyPr/>
          <a:lstStyle/>
          <a:p>
            <a:pPr marL="181240" indent="-18124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30B44B7-E696-6A43-3451-9D9C21BF3088}"/>
              </a:ext>
            </a:extLst>
          </p:cNvPr>
          <p:cNvSpPr>
            <a:spLocks noGrp="1"/>
          </p:cNvSpPr>
          <p:nvPr>
            <p:ph type="sldNum" sz="quarter" idx="5"/>
          </p:nvPr>
        </p:nvSpPr>
        <p:spPr/>
        <p:txBody>
          <a:bodyPr/>
          <a:lstStyle/>
          <a:p>
            <a:fld id="{F6002F80-D99A-4C79-A641-E62CF6952645}" type="slidenum">
              <a:rPr lang="en-US" smtClean="0"/>
              <a:t>10</a:t>
            </a:fld>
            <a:endParaRPr lang="en-US"/>
          </a:p>
        </p:txBody>
      </p:sp>
    </p:spTree>
    <p:extLst>
      <p:ext uri="{BB962C8B-B14F-4D97-AF65-F5344CB8AC3E}">
        <p14:creationId xmlns:p14="http://schemas.microsoft.com/office/powerpoint/2010/main" val="1366947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22BE4-4A5A-2593-A06E-4E027E272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B9BEAF-7277-2C0B-1304-40A8F2598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1915C-96DC-BBAB-8D1A-1835B2099C9A}"/>
              </a:ext>
            </a:extLst>
          </p:cNvPr>
          <p:cNvSpPr>
            <a:spLocks noGrp="1"/>
          </p:cNvSpPr>
          <p:nvPr>
            <p:ph type="body" idx="1"/>
          </p:nvPr>
        </p:nvSpPr>
        <p:spPr/>
        <p:txBody>
          <a:bodyPr/>
          <a:lstStyle/>
          <a:p>
            <a:pPr marL="181240" indent="-18124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16078F5-A932-CB2D-38AE-FE4B624AF5CE}"/>
              </a:ext>
            </a:extLst>
          </p:cNvPr>
          <p:cNvSpPr>
            <a:spLocks noGrp="1"/>
          </p:cNvSpPr>
          <p:nvPr>
            <p:ph type="sldNum" sz="quarter" idx="5"/>
          </p:nvPr>
        </p:nvSpPr>
        <p:spPr/>
        <p:txBody>
          <a:bodyPr/>
          <a:lstStyle/>
          <a:p>
            <a:fld id="{F6002F80-D99A-4C79-A641-E62CF6952645}" type="slidenum">
              <a:rPr lang="en-US" smtClean="0"/>
              <a:t>11</a:t>
            </a:fld>
            <a:endParaRPr lang="en-US"/>
          </a:p>
        </p:txBody>
      </p:sp>
    </p:spTree>
    <p:extLst>
      <p:ext uri="{BB962C8B-B14F-4D97-AF65-F5344CB8AC3E}">
        <p14:creationId xmlns:p14="http://schemas.microsoft.com/office/powerpoint/2010/main" val="2772059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22BE4-4A5A-2593-A06E-4E027E272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B9BEAF-7277-2C0B-1304-40A8F2598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1915C-96DC-BBAB-8D1A-1835B2099C9A}"/>
              </a:ext>
            </a:extLst>
          </p:cNvPr>
          <p:cNvSpPr>
            <a:spLocks noGrp="1"/>
          </p:cNvSpPr>
          <p:nvPr>
            <p:ph type="body" idx="1"/>
          </p:nvPr>
        </p:nvSpPr>
        <p:spPr/>
        <p:txBody>
          <a:bodyPr/>
          <a:lstStyle/>
          <a:p>
            <a:pPr marL="181240" indent="-18124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16078F5-A932-CB2D-38AE-FE4B624AF5CE}"/>
              </a:ext>
            </a:extLst>
          </p:cNvPr>
          <p:cNvSpPr>
            <a:spLocks noGrp="1"/>
          </p:cNvSpPr>
          <p:nvPr>
            <p:ph type="sldNum" sz="quarter" idx="5"/>
          </p:nvPr>
        </p:nvSpPr>
        <p:spPr/>
        <p:txBody>
          <a:bodyPr/>
          <a:lstStyle/>
          <a:p>
            <a:fld id="{F6002F80-D99A-4C79-A641-E62CF6952645}" type="slidenum">
              <a:rPr lang="en-US" smtClean="0"/>
              <a:t>13</a:t>
            </a:fld>
            <a:endParaRPr lang="en-US"/>
          </a:p>
        </p:txBody>
      </p:sp>
    </p:spTree>
    <p:extLst>
      <p:ext uri="{BB962C8B-B14F-4D97-AF65-F5344CB8AC3E}">
        <p14:creationId xmlns:p14="http://schemas.microsoft.com/office/powerpoint/2010/main" val="1312711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2898CC-1A4D-441C-BC42-0703D58CED07}" type="datetimeFigureOut">
              <a:rPr lang="en-US" smtClean="0"/>
              <a:t>9/21/2024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3F3E73-1D41-45A7-B9D3-019913A97EC2}" type="slidenum">
              <a:rPr lang="en-US" smtClean="0"/>
              <a:t>‹#›</a:t>
            </a:fld>
            <a:endParaRPr lang="en-US"/>
          </a:p>
        </p:txBody>
      </p:sp>
    </p:spTree>
    <p:extLst>
      <p:ext uri="{BB962C8B-B14F-4D97-AF65-F5344CB8AC3E}">
        <p14:creationId xmlns:p14="http://schemas.microsoft.com/office/powerpoint/2010/main" val="2982268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2898CC-1A4D-441C-BC42-0703D58CED07}" type="datetimeFigureOut">
              <a:rPr lang="en-US" smtClean="0"/>
              <a:t>9/21/2024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3F3E73-1D41-45A7-B9D3-019913A97EC2}" type="slidenum">
              <a:rPr lang="en-US" smtClean="0"/>
              <a:t>‹#›</a:t>
            </a:fld>
            <a:endParaRPr lang="en-US"/>
          </a:p>
        </p:txBody>
      </p:sp>
    </p:spTree>
    <p:extLst>
      <p:ext uri="{BB962C8B-B14F-4D97-AF65-F5344CB8AC3E}">
        <p14:creationId xmlns:p14="http://schemas.microsoft.com/office/powerpoint/2010/main" val="2764722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2898CC-1A4D-441C-BC42-0703D58CED07}" type="datetimeFigureOut">
              <a:rPr lang="en-US" smtClean="0"/>
              <a:t>9/21/2024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3F3E73-1D41-45A7-B9D3-019913A97EC2}" type="slidenum">
              <a:rPr lang="en-US" smtClean="0"/>
              <a:t>‹#›</a:t>
            </a:fld>
            <a:endParaRPr lang="en-US"/>
          </a:p>
        </p:txBody>
      </p:sp>
    </p:spTree>
    <p:extLst>
      <p:ext uri="{BB962C8B-B14F-4D97-AF65-F5344CB8AC3E}">
        <p14:creationId xmlns:p14="http://schemas.microsoft.com/office/powerpoint/2010/main" val="3514451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2898CC-1A4D-441C-BC42-0703D58CED07}" type="datetimeFigureOut">
              <a:rPr lang="en-US" smtClean="0"/>
              <a:t>9/21/2024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3F3E73-1D41-45A7-B9D3-019913A97EC2}" type="slidenum">
              <a:rPr lang="en-US" smtClean="0"/>
              <a:t>‹#›</a:t>
            </a:fld>
            <a:endParaRPr lang="en-US"/>
          </a:p>
        </p:txBody>
      </p:sp>
    </p:spTree>
    <p:extLst>
      <p:ext uri="{BB962C8B-B14F-4D97-AF65-F5344CB8AC3E}">
        <p14:creationId xmlns:p14="http://schemas.microsoft.com/office/powerpoint/2010/main" val="3673395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2898CC-1A4D-441C-BC42-0703D58CED07}" type="datetimeFigureOut">
              <a:rPr lang="en-US" smtClean="0"/>
              <a:t>9/21/2024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3F3E73-1D41-45A7-B9D3-019913A97EC2}" type="slidenum">
              <a:rPr lang="en-US" smtClean="0"/>
              <a:t>‹#›</a:t>
            </a:fld>
            <a:endParaRPr lang="en-US"/>
          </a:p>
        </p:txBody>
      </p:sp>
    </p:spTree>
    <p:extLst>
      <p:ext uri="{BB962C8B-B14F-4D97-AF65-F5344CB8AC3E}">
        <p14:creationId xmlns:p14="http://schemas.microsoft.com/office/powerpoint/2010/main" val="2365670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2898CC-1A4D-441C-BC42-0703D58CED07}" type="datetimeFigureOut">
              <a:rPr lang="en-US" smtClean="0"/>
              <a:t>9/21/2024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3F3E73-1D41-45A7-B9D3-019913A97EC2}" type="slidenum">
              <a:rPr lang="en-US" smtClean="0"/>
              <a:t>‹#›</a:t>
            </a:fld>
            <a:endParaRPr lang="en-US"/>
          </a:p>
        </p:txBody>
      </p:sp>
    </p:spTree>
    <p:extLst>
      <p:ext uri="{BB962C8B-B14F-4D97-AF65-F5344CB8AC3E}">
        <p14:creationId xmlns:p14="http://schemas.microsoft.com/office/powerpoint/2010/main" val="2942432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2898CC-1A4D-441C-BC42-0703D58CED07}" type="datetimeFigureOut">
              <a:rPr lang="en-US" smtClean="0"/>
              <a:t>9/21/2024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3F3E73-1D41-45A7-B9D3-019913A97EC2}" type="slidenum">
              <a:rPr lang="en-US" smtClean="0"/>
              <a:t>‹#›</a:t>
            </a:fld>
            <a:endParaRPr lang="en-US"/>
          </a:p>
        </p:txBody>
      </p:sp>
    </p:spTree>
    <p:extLst>
      <p:ext uri="{BB962C8B-B14F-4D97-AF65-F5344CB8AC3E}">
        <p14:creationId xmlns:p14="http://schemas.microsoft.com/office/powerpoint/2010/main" val="65677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2898CC-1A4D-441C-BC42-0703D58CED07}" type="datetimeFigureOut">
              <a:rPr lang="en-US" smtClean="0"/>
              <a:t>9/21/2024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3F3E73-1D41-45A7-B9D3-019913A97EC2}" type="slidenum">
              <a:rPr lang="en-US" smtClean="0"/>
              <a:t>‹#›</a:t>
            </a:fld>
            <a:endParaRPr lang="en-US"/>
          </a:p>
        </p:txBody>
      </p:sp>
    </p:spTree>
    <p:extLst>
      <p:ext uri="{BB962C8B-B14F-4D97-AF65-F5344CB8AC3E}">
        <p14:creationId xmlns:p14="http://schemas.microsoft.com/office/powerpoint/2010/main" val="732613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2898CC-1A4D-441C-BC42-0703D58CED07}" type="datetimeFigureOut">
              <a:rPr lang="en-US" smtClean="0"/>
              <a:t>9/21/2024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3F3E73-1D41-45A7-B9D3-019913A97EC2}" type="slidenum">
              <a:rPr lang="en-US" smtClean="0"/>
              <a:t>‹#›</a:t>
            </a:fld>
            <a:endParaRPr lang="en-US"/>
          </a:p>
        </p:txBody>
      </p:sp>
    </p:spTree>
    <p:extLst>
      <p:ext uri="{BB962C8B-B14F-4D97-AF65-F5344CB8AC3E}">
        <p14:creationId xmlns:p14="http://schemas.microsoft.com/office/powerpoint/2010/main" val="3209446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2898CC-1A4D-441C-BC42-0703D58CED07}" type="datetimeFigureOut">
              <a:rPr lang="en-US" smtClean="0"/>
              <a:t>9/21/2024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3F3E73-1D41-45A7-B9D3-019913A97EC2}" type="slidenum">
              <a:rPr lang="en-US" smtClean="0"/>
              <a:t>‹#›</a:t>
            </a:fld>
            <a:endParaRPr lang="en-US"/>
          </a:p>
        </p:txBody>
      </p:sp>
    </p:spTree>
    <p:extLst>
      <p:ext uri="{BB962C8B-B14F-4D97-AF65-F5344CB8AC3E}">
        <p14:creationId xmlns:p14="http://schemas.microsoft.com/office/powerpoint/2010/main" val="2082931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2898CC-1A4D-441C-BC42-0703D58CED07}" type="datetimeFigureOut">
              <a:rPr lang="en-US" smtClean="0"/>
              <a:t>9/21/2024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3F3E73-1D41-45A7-B9D3-019913A97EC2}" type="slidenum">
              <a:rPr lang="en-US" smtClean="0"/>
              <a:t>‹#›</a:t>
            </a:fld>
            <a:endParaRPr lang="en-US"/>
          </a:p>
        </p:txBody>
      </p:sp>
    </p:spTree>
    <p:extLst>
      <p:ext uri="{BB962C8B-B14F-4D97-AF65-F5344CB8AC3E}">
        <p14:creationId xmlns:p14="http://schemas.microsoft.com/office/powerpoint/2010/main" val="2822275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2898CC-1A4D-441C-BC42-0703D58CED07}" type="datetimeFigureOut">
              <a:rPr lang="en-US" smtClean="0"/>
              <a:t>9/21/2024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3F3E73-1D41-45A7-B9D3-019913A97EC2}" type="slidenum">
              <a:rPr lang="en-US" smtClean="0"/>
              <a:t>‹#›</a:t>
            </a:fld>
            <a:endParaRPr lang="en-US"/>
          </a:p>
        </p:txBody>
      </p:sp>
    </p:spTree>
    <p:extLst>
      <p:ext uri="{BB962C8B-B14F-4D97-AF65-F5344CB8AC3E}">
        <p14:creationId xmlns:p14="http://schemas.microsoft.com/office/powerpoint/2010/main" val="3257797612"/>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hyperlink" Target="https://doi.org/10.13140/RG.2.2.36806.86081"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flsenate.gov/Session/Bill/2024/01178"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Straight Connector 74">
            <a:extLst>
              <a:ext uri="{FF2B5EF4-FFF2-40B4-BE49-F238E27FC236}">
                <a16:creationId xmlns:a16="http://schemas.microsoft.com/office/drawing/2014/main" id="{3D8E323E-DB54-4A2F-B732-A336D1D2B5C9}"/>
              </a:ext>
            </a:extLst>
          </p:cNvPr>
          <p:cNvCxnSpPr/>
          <p:nvPr/>
        </p:nvCxnSpPr>
        <p:spPr bwMode="auto">
          <a:xfrm>
            <a:off x="-1" y="6830621"/>
            <a:ext cx="12192000" cy="0"/>
          </a:xfrm>
          <a:prstGeom prst="line">
            <a:avLst/>
          </a:prstGeom>
          <a:ln w="76200" cmpd="sng">
            <a:solidFill>
              <a:srgbClr val="180755"/>
            </a:solidFill>
          </a:ln>
        </p:spPr>
        <p:style>
          <a:lnRef idx="1">
            <a:schemeClr val="accent1"/>
          </a:lnRef>
          <a:fillRef idx="0">
            <a:schemeClr val="accent1"/>
          </a:fillRef>
          <a:effectRef idx="0">
            <a:schemeClr val="accent1"/>
          </a:effectRef>
          <a:fontRef idx="minor">
            <a:schemeClr val="tx1"/>
          </a:fontRef>
        </p:style>
      </p:cxnSp>
      <p:sp>
        <p:nvSpPr>
          <p:cNvPr id="136" name="Rectangle 135">
            <a:extLst>
              <a:ext uri="{FF2B5EF4-FFF2-40B4-BE49-F238E27FC236}">
                <a16:creationId xmlns:a16="http://schemas.microsoft.com/office/drawing/2014/main" id="{9859F1C2-80D9-4F01-908D-AA58EE3CAB06}"/>
              </a:ext>
            </a:extLst>
          </p:cNvPr>
          <p:cNvSpPr/>
          <p:nvPr/>
        </p:nvSpPr>
        <p:spPr>
          <a:xfrm>
            <a:off x="-53003" y="4886577"/>
            <a:ext cx="3435284" cy="463075"/>
          </a:xfrm>
          <a:prstGeom prst="rect">
            <a:avLst/>
          </a:prstGeom>
        </p:spPr>
        <p:txBody>
          <a:bodyPr wrap="square">
            <a:spAutoFit/>
          </a:bodyPr>
          <a:lstStyle/>
          <a:p>
            <a:pPr marL="0" marR="0" algn="ctr">
              <a:lnSpc>
                <a:spcPct val="150000"/>
              </a:lnSpc>
              <a:spcBef>
                <a:spcPts val="0"/>
              </a:spcBef>
              <a:spcAft>
                <a:spcPts val="0"/>
              </a:spcAft>
            </a:pPr>
            <a:r>
              <a:rPr lang="en-US" b="1" dirty="0">
                <a:effectLst/>
                <a:latin typeface="Arial" panose="020B0604020202020204" pitchFamily="34" charset="0"/>
                <a:ea typeface="Malgun Gothic" panose="020B0503020000020004" pitchFamily="34" charset="-127"/>
                <a:cs typeface="Times New Roman" panose="02020603050405020304" pitchFamily="18" charset="0"/>
              </a:rPr>
              <a:t>PI: Omar Nofal</a:t>
            </a:r>
            <a:r>
              <a:rPr lang="en-US" b="1" dirty="0">
                <a:latin typeface="Arial" panose="020B0604020202020204" pitchFamily="34" charset="0"/>
                <a:ea typeface="Malgun Gothic" panose="020B0503020000020004" pitchFamily="34" charset="-127"/>
                <a:cs typeface="Times New Roman" panose="02020603050405020304" pitchFamily="18" charset="0"/>
              </a:rPr>
              <a:t>, Ph.D.</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TextBox 1">
            <a:extLst>
              <a:ext uri="{FF2B5EF4-FFF2-40B4-BE49-F238E27FC236}">
                <a16:creationId xmlns:a16="http://schemas.microsoft.com/office/drawing/2014/main" id="{25DC4FD1-EF12-4503-BDE5-1DECB7295577}"/>
              </a:ext>
            </a:extLst>
          </p:cNvPr>
          <p:cNvSpPr txBox="1"/>
          <p:nvPr/>
        </p:nvSpPr>
        <p:spPr>
          <a:xfrm>
            <a:off x="11839235" y="6442649"/>
            <a:ext cx="352764" cy="369332"/>
          </a:xfrm>
          <a:prstGeom prst="rect">
            <a:avLst/>
          </a:prstGeom>
          <a:noFill/>
        </p:spPr>
        <p:txBody>
          <a:bodyPr wrap="square" rtlCol="0">
            <a:spAutoFit/>
          </a:bodyPr>
          <a:lstStyle/>
          <a:p>
            <a:r>
              <a:rPr lang="en-US" dirty="0"/>
              <a:t>1</a:t>
            </a:r>
          </a:p>
        </p:txBody>
      </p:sp>
      <p:pic>
        <p:nvPicPr>
          <p:cNvPr id="1026" name="Picture 2" descr="Logos | Brand Style Guide | Florida International University">
            <a:extLst>
              <a:ext uri="{FF2B5EF4-FFF2-40B4-BE49-F238E27FC236}">
                <a16:creationId xmlns:a16="http://schemas.microsoft.com/office/drawing/2014/main" id="{ED260EB4-2375-D250-85CE-7BEEA58E8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3577" y="451194"/>
            <a:ext cx="2181225" cy="16287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EDEAA4D-D0E7-849D-3702-6C49098E24E4}"/>
              </a:ext>
            </a:extLst>
          </p:cNvPr>
          <p:cNvSpPr txBox="1"/>
          <p:nvPr/>
        </p:nvSpPr>
        <p:spPr>
          <a:xfrm>
            <a:off x="242043" y="5353086"/>
            <a:ext cx="2412447" cy="369332"/>
          </a:xfrm>
          <a:prstGeom prst="rect">
            <a:avLst/>
          </a:prstGeom>
          <a:noFill/>
        </p:spPr>
        <p:txBody>
          <a:bodyPr wrap="square" rtlCol="0">
            <a:spAutoFit/>
          </a:bodyPr>
          <a:lstStyle>
            <a:defPPr>
              <a:defRPr lang="en-US"/>
            </a:defPPr>
            <a:lvl1pPr>
              <a:defRPr sz="1400" b="1">
                <a:solidFill>
                  <a:schemeClr val="bg1"/>
                </a:solidFill>
              </a:defRPr>
            </a:lvl1pPr>
          </a:lstStyle>
          <a:p>
            <a:pPr algn="ctr"/>
            <a:r>
              <a:rPr lang="en-US" sz="1800" dirty="0">
                <a:solidFill>
                  <a:srgbClr val="180755"/>
                </a:solidFill>
              </a:rPr>
              <a:t>Assistant Professor</a:t>
            </a:r>
          </a:p>
        </p:txBody>
      </p:sp>
      <p:sp>
        <p:nvSpPr>
          <p:cNvPr id="6" name="TextBox 5">
            <a:extLst>
              <a:ext uri="{FF2B5EF4-FFF2-40B4-BE49-F238E27FC236}">
                <a16:creationId xmlns:a16="http://schemas.microsoft.com/office/drawing/2014/main" id="{C1FDDD4A-94FD-31BB-DA93-FA44F92483FC}"/>
              </a:ext>
            </a:extLst>
          </p:cNvPr>
          <p:cNvSpPr txBox="1"/>
          <p:nvPr/>
        </p:nvSpPr>
        <p:spPr>
          <a:xfrm>
            <a:off x="1769951" y="3191669"/>
            <a:ext cx="8652093" cy="1200329"/>
          </a:xfrm>
          <a:prstGeom prst="rect">
            <a:avLst/>
          </a:prstGeom>
          <a:noFill/>
        </p:spPr>
        <p:txBody>
          <a:bodyPr wrap="square">
            <a:spAutoFit/>
          </a:bodyPr>
          <a:lstStyle/>
          <a:p>
            <a:pPr algn="ctr"/>
            <a:r>
              <a:rPr lang="en-US" sz="2400" b="1" dirty="0">
                <a:latin typeface="Arial" panose="020B0604020202020204" pitchFamily="34" charset="0"/>
                <a:ea typeface="Malgun Gothic" panose="020B0503020000020004" pitchFamily="34" charset="-127"/>
                <a:cs typeface="Times New Roman" panose="02020603050405020304" pitchFamily="18" charset="0"/>
              </a:rPr>
              <a:t>Reviewing the Standards for Wind-Driven Rain (WDR) Intrusion through Tracks of Sliding Glass Door Systems (SGDs) during Hurricanes</a:t>
            </a:r>
          </a:p>
        </p:txBody>
      </p:sp>
      <p:sp>
        <p:nvSpPr>
          <p:cNvPr id="5" name="Rectangle 4">
            <a:extLst>
              <a:ext uri="{FF2B5EF4-FFF2-40B4-BE49-F238E27FC236}">
                <a16:creationId xmlns:a16="http://schemas.microsoft.com/office/drawing/2014/main" id="{77ED2E13-00A8-677E-8181-D9DAD132491E}"/>
              </a:ext>
            </a:extLst>
          </p:cNvPr>
          <p:cNvSpPr/>
          <p:nvPr/>
        </p:nvSpPr>
        <p:spPr>
          <a:xfrm>
            <a:off x="3905439" y="4886577"/>
            <a:ext cx="3973748" cy="463075"/>
          </a:xfrm>
          <a:prstGeom prst="rect">
            <a:avLst/>
          </a:prstGeom>
        </p:spPr>
        <p:txBody>
          <a:bodyPr wrap="square">
            <a:spAutoFit/>
          </a:bodyPr>
          <a:lstStyle/>
          <a:p>
            <a:pPr marL="0" marR="0" algn="ctr">
              <a:lnSpc>
                <a:spcPct val="150000"/>
              </a:lnSpc>
              <a:spcBef>
                <a:spcPts val="0"/>
              </a:spcBef>
              <a:spcAft>
                <a:spcPts val="0"/>
              </a:spcAft>
            </a:pPr>
            <a:r>
              <a:rPr lang="en-US" b="1" dirty="0">
                <a:effectLst/>
                <a:latin typeface="Arial" panose="020B0604020202020204" pitchFamily="34" charset="0"/>
                <a:ea typeface="Malgun Gothic" panose="020B0503020000020004" pitchFamily="34" charset="-127"/>
                <a:cs typeface="Times New Roman" panose="02020603050405020304" pitchFamily="18" charset="0"/>
              </a:rPr>
              <a:t>Co-PI: Arindam Chowdhury</a:t>
            </a:r>
            <a:r>
              <a:rPr lang="en-US" b="1" dirty="0">
                <a:latin typeface="Arial" panose="020B0604020202020204" pitchFamily="34" charset="0"/>
                <a:ea typeface="Malgun Gothic" panose="020B0503020000020004" pitchFamily="34" charset="-127"/>
                <a:cs typeface="Times New Roman" panose="02020603050405020304" pitchFamily="18" charset="0"/>
              </a:rPr>
              <a:t>, Ph.D.</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90C77786-F184-BE09-9961-FF140B829D9C}"/>
              </a:ext>
            </a:extLst>
          </p:cNvPr>
          <p:cNvSpPr txBox="1"/>
          <p:nvPr/>
        </p:nvSpPr>
        <p:spPr>
          <a:xfrm>
            <a:off x="3994891" y="5349589"/>
            <a:ext cx="3643945" cy="369332"/>
          </a:xfrm>
          <a:prstGeom prst="rect">
            <a:avLst/>
          </a:prstGeom>
          <a:noFill/>
        </p:spPr>
        <p:txBody>
          <a:bodyPr wrap="square" rtlCol="0">
            <a:spAutoFit/>
          </a:bodyPr>
          <a:lstStyle>
            <a:defPPr>
              <a:defRPr lang="en-US"/>
            </a:defPPr>
            <a:lvl1pPr>
              <a:defRPr sz="1400" b="1">
                <a:solidFill>
                  <a:schemeClr val="bg1"/>
                </a:solidFill>
              </a:defRPr>
            </a:lvl1pPr>
          </a:lstStyle>
          <a:p>
            <a:r>
              <a:rPr lang="en-US" sz="1800" dirty="0">
                <a:solidFill>
                  <a:srgbClr val="180755"/>
                </a:solidFill>
              </a:rPr>
              <a:t>Professor</a:t>
            </a:r>
          </a:p>
        </p:txBody>
      </p:sp>
      <p:sp>
        <p:nvSpPr>
          <p:cNvPr id="8" name="Rectangle 7">
            <a:extLst>
              <a:ext uri="{FF2B5EF4-FFF2-40B4-BE49-F238E27FC236}">
                <a16:creationId xmlns:a16="http://schemas.microsoft.com/office/drawing/2014/main" id="{D046CFA9-B4E2-EA8B-0DC5-F070FB7531DE}"/>
              </a:ext>
            </a:extLst>
          </p:cNvPr>
          <p:cNvSpPr/>
          <p:nvPr/>
        </p:nvSpPr>
        <p:spPr>
          <a:xfrm>
            <a:off x="8323328" y="4886577"/>
            <a:ext cx="3973748" cy="463012"/>
          </a:xfrm>
          <a:prstGeom prst="rect">
            <a:avLst/>
          </a:prstGeom>
        </p:spPr>
        <p:txBody>
          <a:bodyPr wrap="square">
            <a:spAutoFit/>
          </a:bodyPr>
          <a:lstStyle/>
          <a:p>
            <a:pPr algn="ctr">
              <a:lnSpc>
                <a:spcPct val="150000"/>
              </a:lnSpc>
            </a:pPr>
            <a:r>
              <a:rPr lang="en-US" b="1" dirty="0">
                <a:effectLst/>
                <a:latin typeface="Arial" panose="020B0604020202020204" pitchFamily="34" charset="0"/>
                <a:ea typeface="Malgun Gothic" panose="020B0503020000020004" pitchFamily="34" charset="-127"/>
                <a:cs typeface="Times New Roman" panose="02020603050405020304" pitchFamily="18" charset="0"/>
              </a:rPr>
              <a:t>Co-PI: Ryan A. </a:t>
            </a:r>
            <a:r>
              <a:rPr lang="en-US" b="1" i="0" dirty="0" err="1">
                <a:effectLst/>
                <a:latin typeface="Segoe UI" panose="020B0502040204020203" pitchFamily="34" charset="0"/>
              </a:rPr>
              <a:t>Catarelli</a:t>
            </a:r>
            <a:r>
              <a:rPr lang="en-US" b="1" dirty="0">
                <a:latin typeface="Arial" panose="020B0604020202020204" pitchFamily="34" charset="0"/>
                <a:ea typeface="Malgun Gothic" panose="020B0503020000020004" pitchFamily="34" charset="-127"/>
                <a:cs typeface="Times New Roman" panose="02020603050405020304" pitchFamily="18" charset="0"/>
              </a:rPr>
              <a:t>, Ph.D.</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D2720CC0-B38A-3451-66F2-DD3CC77E96F5}"/>
              </a:ext>
            </a:extLst>
          </p:cNvPr>
          <p:cNvSpPr txBox="1"/>
          <p:nvPr/>
        </p:nvSpPr>
        <p:spPr>
          <a:xfrm>
            <a:off x="8654222" y="5304489"/>
            <a:ext cx="3181608" cy="369332"/>
          </a:xfrm>
          <a:prstGeom prst="rect">
            <a:avLst/>
          </a:prstGeom>
          <a:noFill/>
        </p:spPr>
        <p:txBody>
          <a:bodyPr wrap="square" rtlCol="0">
            <a:spAutoFit/>
          </a:bodyPr>
          <a:lstStyle>
            <a:defPPr>
              <a:defRPr lang="en-US"/>
            </a:defPPr>
            <a:lvl1pPr>
              <a:defRPr sz="1400" b="1">
                <a:solidFill>
                  <a:schemeClr val="bg1"/>
                </a:solidFill>
              </a:defRPr>
            </a:lvl1pPr>
          </a:lstStyle>
          <a:p>
            <a:r>
              <a:rPr lang="en-US" sz="1800" dirty="0">
                <a:solidFill>
                  <a:srgbClr val="180755"/>
                </a:solidFill>
              </a:rPr>
              <a:t>Research Assistant Scientist</a:t>
            </a:r>
          </a:p>
        </p:txBody>
      </p:sp>
      <p:sp>
        <p:nvSpPr>
          <p:cNvPr id="10" name="TextBox 9">
            <a:extLst>
              <a:ext uri="{FF2B5EF4-FFF2-40B4-BE49-F238E27FC236}">
                <a16:creationId xmlns:a16="http://schemas.microsoft.com/office/drawing/2014/main" id="{33976032-4779-BFC9-69F4-76FC19C41222}"/>
              </a:ext>
            </a:extLst>
          </p:cNvPr>
          <p:cNvSpPr txBox="1"/>
          <p:nvPr/>
        </p:nvSpPr>
        <p:spPr>
          <a:xfrm>
            <a:off x="428090" y="5671309"/>
            <a:ext cx="3225487" cy="338554"/>
          </a:xfrm>
          <a:prstGeom prst="rect">
            <a:avLst/>
          </a:prstGeom>
          <a:noFill/>
        </p:spPr>
        <p:txBody>
          <a:bodyPr wrap="square" rtlCol="0">
            <a:spAutoFit/>
          </a:bodyPr>
          <a:lstStyle>
            <a:defPPr>
              <a:defRPr lang="en-US"/>
            </a:defPPr>
            <a:lvl1pPr>
              <a:defRPr sz="1400" b="1">
                <a:solidFill>
                  <a:schemeClr val="bg1"/>
                </a:solidFill>
              </a:defRPr>
            </a:lvl1pPr>
          </a:lstStyle>
          <a:p>
            <a:r>
              <a:rPr lang="en-US" sz="1600" dirty="0">
                <a:solidFill>
                  <a:srgbClr val="180755"/>
                </a:solidFill>
              </a:rPr>
              <a:t>Florida International University</a:t>
            </a:r>
          </a:p>
        </p:txBody>
      </p:sp>
      <p:sp>
        <p:nvSpPr>
          <p:cNvPr id="11" name="TextBox 10">
            <a:extLst>
              <a:ext uri="{FF2B5EF4-FFF2-40B4-BE49-F238E27FC236}">
                <a16:creationId xmlns:a16="http://schemas.microsoft.com/office/drawing/2014/main" id="{62656D10-92F1-C781-B2B2-D74A25BF3ADC}"/>
              </a:ext>
            </a:extLst>
          </p:cNvPr>
          <p:cNvSpPr txBox="1"/>
          <p:nvPr/>
        </p:nvSpPr>
        <p:spPr>
          <a:xfrm>
            <a:off x="3997084" y="5671309"/>
            <a:ext cx="3225487" cy="338554"/>
          </a:xfrm>
          <a:prstGeom prst="rect">
            <a:avLst/>
          </a:prstGeom>
          <a:noFill/>
        </p:spPr>
        <p:txBody>
          <a:bodyPr wrap="square" rtlCol="0">
            <a:spAutoFit/>
          </a:bodyPr>
          <a:lstStyle>
            <a:defPPr>
              <a:defRPr lang="en-US"/>
            </a:defPPr>
            <a:lvl1pPr>
              <a:defRPr sz="1400" b="1">
                <a:solidFill>
                  <a:schemeClr val="bg1"/>
                </a:solidFill>
              </a:defRPr>
            </a:lvl1pPr>
          </a:lstStyle>
          <a:p>
            <a:r>
              <a:rPr lang="en-US" sz="1600" dirty="0">
                <a:solidFill>
                  <a:srgbClr val="180755"/>
                </a:solidFill>
              </a:rPr>
              <a:t>Florida International University</a:t>
            </a:r>
          </a:p>
        </p:txBody>
      </p:sp>
      <p:sp>
        <p:nvSpPr>
          <p:cNvPr id="12" name="TextBox 11">
            <a:extLst>
              <a:ext uri="{FF2B5EF4-FFF2-40B4-BE49-F238E27FC236}">
                <a16:creationId xmlns:a16="http://schemas.microsoft.com/office/drawing/2014/main" id="{6FF6072E-B72B-B595-AD72-C7FBB33E1015}"/>
              </a:ext>
            </a:extLst>
          </p:cNvPr>
          <p:cNvSpPr txBox="1"/>
          <p:nvPr/>
        </p:nvSpPr>
        <p:spPr>
          <a:xfrm>
            <a:off x="8697458" y="5662593"/>
            <a:ext cx="3225487" cy="338554"/>
          </a:xfrm>
          <a:prstGeom prst="rect">
            <a:avLst/>
          </a:prstGeom>
          <a:noFill/>
        </p:spPr>
        <p:txBody>
          <a:bodyPr wrap="square" rtlCol="0">
            <a:spAutoFit/>
          </a:bodyPr>
          <a:lstStyle>
            <a:defPPr>
              <a:defRPr lang="en-US"/>
            </a:defPPr>
            <a:lvl1pPr>
              <a:defRPr sz="1400" b="1">
                <a:solidFill>
                  <a:schemeClr val="bg1"/>
                </a:solidFill>
              </a:defRPr>
            </a:lvl1pPr>
          </a:lstStyle>
          <a:p>
            <a:r>
              <a:rPr lang="en-US" sz="1600" dirty="0">
                <a:solidFill>
                  <a:srgbClr val="180755"/>
                </a:solidFill>
              </a:rPr>
              <a:t>University of Florida</a:t>
            </a:r>
          </a:p>
        </p:txBody>
      </p:sp>
      <p:pic>
        <p:nvPicPr>
          <p:cNvPr id="1028" name="Picture 4" descr="University of Florida - Cumulus Association">
            <a:extLst>
              <a:ext uri="{FF2B5EF4-FFF2-40B4-BE49-F238E27FC236}">
                <a16:creationId xmlns:a16="http://schemas.microsoft.com/office/drawing/2014/main" id="{C9D0ACA6-49C8-FCA2-29A6-8D3CAAB537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3095" y="451194"/>
            <a:ext cx="1628775" cy="1628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3504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FB43469-08C6-04B6-E08E-285DD58AC279}"/>
              </a:ext>
            </a:extLst>
          </p:cNvPr>
          <p:cNvSpPr/>
          <p:nvPr/>
        </p:nvSpPr>
        <p:spPr>
          <a:xfrm>
            <a:off x="0" y="-6350"/>
            <a:ext cx="12192000" cy="806450"/>
          </a:xfrm>
          <a:prstGeom prst="rect">
            <a:avLst/>
          </a:prstGeom>
          <a:solidFill>
            <a:srgbClr val="081E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just">
              <a:spcBef>
                <a:spcPts val="0"/>
              </a:spcBef>
              <a:spcAft>
                <a:spcPts val="0"/>
              </a:spcAft>
              <a:tabLst>
                <a:tab pos="2971800" algn="ctr"/>
                <a:tab pos="5943600" algn="r"/>
                <a:tab pos="457200" algn="l"/>
              </a:tabLst>
            </a:pPr>
            <a:r>
              <a:rPr lang="en-US" sz="1100" b="1" cap="all">
                <a:solidFill>
                  <a:srgbClr val="FFFFFF"/>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10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E66C5777-AB49-C9D8-36A3-C828B9F3F3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64184" y="72946"/>
            <a:ext cx="2367806" cy="679263"/>
          </a:xfrm>
          <a:prstGeom prst="rect">
            <a:avLst/>
          </a:prstGeom>
        </p:spPr>
      </p:pic>
      <p:sp>
        <p:nvSpPr>
          <p:cNvPr id="4" name="TextBox 3">
            <a:extLst>
              <a:ext uri="{FF2B5EF4-FFF2-40B4-BE49-F238E27FC236}">
                <a16:creationId xmlns:a16="http://schemas.microsoft.com/office/drawing/2014/main" id="{6115DF30-5229-DA9A-1BA9-493BF9DF7039}"/>
              </a:ext>
            </a:extLst>
          </p:cNvPr>
          <p:cNvSpPr txBox="1"/>
          <p:nvPr/>
        </p:nvSpPr>
        <p:spPr>
          <a:xfrm>
            <a:off x="60010" y="121352"/>
            <a:ext cx="9928447" cy="58477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3200" b="1" dirty="0">
                <a:solidFill>
                  <a:schemeClr val="bg1">
                    <a:lumMod val="95000"/>
                  </a:schemeClr>
                </a:solidFill>
              </a:rPr>
              <a:t>Introduction</a:t>
            </a:r>
            <a:endParaRPr kumimoji="0" lang="en-US" sz="3200" b="1" i="0" u="none" strike="noStrike" kern="1200" cap="none" spc="0" normalizeH="0" baseline="0" noProof="0" dirty="0">
              <a:ln>
                <a:noFill/>
              </a:ln>
              <a:solidFill>
                <a:schemeClr val="bg1">
                  <a:lumMod val="95000"/>
                </a:schemeClr>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02BE1E56-BAAC-38F0-A271-0F65C3AB8E4F}"/>
              </a:ext>
            </a:extLst>
          </p:cNvPr>
          <p:cNvSpPr txBox="1"/>
          <p:nvPr/>
        </p:nvSpPr>
        <p:spPr>
          <a:xfrm>
            <a:off x="328474" y="978416"/>
            <a:ext cx="11594236" cy="4514056"/>
          </a:xfrm>
          <a:prstGeom prst="rect">
            <a:avLst/>
          </a:prstGeom>
          <a:noFill/>
        </p:spPr>
        <p:txBody>
          <a:bodyPr wrap="square">
            <a:spAutoFit/>
          </a:bodyPr>
          <a:lstStyle/>
          <a:p>
            <a:pPr marL="342900" indent="-342900" algn="just">
              <a:lnSpc>
                <a:spcPct val="107000"/>
              </a:lnSpc>
              <a:buFont typeface="Arial" panose="020B0604020202020204" pitchFamily="34" charset="0"/>
              <a:buChar char="•"/>
            </a:pP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342900" indent="-342900" algn="just">
              <a:lnSpc>
                <a:spcPct val="107000"/>
              </a:lnSpc>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 Florida's Miami-Dade County, standards for protecting doors and windows against wind-borne debris were set in response to Hurricane Andrew. As to the current Florida Building Code, 6th edition, glazed openings in structures located in wind-borne debris zones must either be impact-resistant or have an impact-resistant covering (shutters) installed to protect them.</a:t>
            </a:r>
          </a:p>
          <a:p>
            <a:pPr marL="342900" indent="-342900" algn="just">
              <a:lnSpc>
                <a:spcPct val="107000"/>
              </a:lnSpc>
              <a:buFont typeface="Arial" panose="020B0604020202020204" pitchFamily="34" charset="0"/>
              <a:buChar char="•"/>
            </a:pPr>
            <a:endParaRPr lang="en-US" sz="2000" dirty="0">
              <a:solidFill>
                <a:srgbClr val="000000"/>
              </a:solidFill>
              <a:effectLst/>
              <a:latin typeface="Arial" panose="020B0604020202020204" pitchFamily="34" charset="0"/>
              <a:ea typeface="Aptos" panose="020B0004020202020204" pitchFamily="34" charset="0"/>
              <a:cs typeface="Arial" panose="020B0604020202020204" pitchFamily="34" charset="0"/>
            </a:endParaRPr>
          </a:p>
          <a:p>
            <a:pPr marL="342900" marR="0" indent="-342900" algn="just">
              <a:lnSpc>
                <a:spcPct val="107000"/>
              </a:lnSpc>
              <a:spcBef>
                <a:spcPts val="0"/>
              </a:spcBef>
              <a:spcAft>
                <a:spcPts val="800"/>
              </a:spcAft>
              <a:buFont typeface="Arial" panose="020B0604020202020204" pitchFamily="34" charset="0"/>
              <a:buChar char="•"/>
            </a:pPr>
            <a:r>
              <a:rPr lang="en-US" sz="2000" dirty="0">
                <a:solidFill>
                  <a:srgbClr val="000000"/>
                </a:solidFill>
                <a:effectLst/>
                <a:latin typeface="Arial" panose="020B0604020202020204" pitchFamily="34" charset="0"/>
                <a:ea typeface="Aptos" panose="020B0004020202020204" pitchFamily="34" charset="0"/>
                <a:cs typeface="Arial" panose="020B0604020202020204" pitchFamily="34" charset="0"/>
              </a:rPr>
              <a:t>The FBC has been entrusted with carrying out a thorough investigation on requirements to prevent water infiltration through sliding glass door tracks, including examining devices intended to minimize or prevent water intrusion, following Section 32 of HB 10 21-2024 [6].</a:t>
            </a:r>
          </a:p>
          <a:p>
            <a:pPr marL="342900" marR="0" indent="-342900" algn="just">
              <a:lnSpc>
                <a:spcPct val="107000"/>
              </a:lnSpc>
              <a:spcBef>
                <a:spcPts val="0"/>
              </a:spcBef>
              <a:spcAft>
                <a:spcPts val="800"/>
              </a:spcAft>
              <a:buFont typeface="Arial" panose="020B0604020202020204" pitchFamily="34" charset="0"/>
              <a:buChar char="•"/>
            </a:pPr>
            <a:endParaRPr lang="en-US" sz="2000" dirty="0">
              <a:solidFill>
                <a:srgbClr val="000000"/>
              </a:solidFill>
              <a:latin typeface="Arial" panose="020B0604020202020204" pitchFamily="34" charset="0"/>
              <a:ea typeface="Aptos" panose="020B0004020202020204" pitchFamily="34" charset="0"/>
              <a:cs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SGDs can span a big aperture and provide lots of natural light and ventilation because of their multipaneled construction. Breaking through such a large opening during a windstorm, however, might cause extensive damage to SGDs from debris impact and water ingress. </a:t>
            </a:r>
            <a:endParaRPr lang="en-US" sz="2000" dirty="0">
              <a:effectLst/>
              <a:latin typeface="Arial" panose="020B0604020202020204" pitchFamily="34" charset="0"/>
              <a:ea typeface="Aptos" panose="020B0004020202020204" pitchFamily="34" charset="0"/>
              <a:cs typeface="Arial" panose="020B0604020202020204" pitchFamily="34" charset="0"/>
            </a:endParaRPr>
          </a:p>
        </p:txBody>
      </p:sp>
      <p:sp>
        <p:nvSpPr>
          <p:cNvPr id="13" name="Rectangle 3">
            <a:extLst>
              <a:ext uri="{FF2B5EF4-FFF2-40B4-BE49-F238E27FC236}">
                <a16:creationId xmlns:a16="http://schemas.microsoft.com/office/drawing/2014/main" id="{0056408A-ADBD-655C-F9E9-541BFA84F31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14" name="Straight Connector 13">
            <a:extLst>
              <a:ext uri="{FF2B5EF4-FFF2-40B4-BE49-F238E27FC236}">
                <a16:creationId xmlns:a16="http://schemas.microsoft.com/office/drawing/2014/main" id="{66CD3F8A-FF7C-D980-B275-2E77EA2B14B2}"/>
              </a:ext>
            </a:extLst>
          </p:cNvPr>
          <p:cNvCxnSpPr/>
          <p:nvPr/>
        </p:nvCxnSpPr>
        <p:spPr bwMode="auto">
          <a:xfrm>
            <a:off x="-1" y="6830621"/>
            <a:ext cx="12192000" cy="0"/>
          </a:xfrm>
          <a:prstGeom prst="line">
            <a:avLst/>
          </a:prstGeom>
          <a:ln w="76200" cmpd="sng">
            <a:solidFill>
              <a:srgbClr val="000066"/>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E730691-D240-2581-2C1C-743F15904BA7}"/>
              </a:ext>
            </a:extLst>
          </p:cNvPr>
          <p:cNvSpPr txBox="1"/>
          <p:nvPr/>
        </p:nvSpPr>
        <p:spPr>
          <a:xfrm>
            <a:off x="11839235" y="6442649"/>
            <a:ext cx="352764" cy="369332"/>
          </a:xfrm>
          <a:prstGeom prst="rect">
            <a:avLst/>
          </a:prstGeom>
          <a:noFill/>
        </p:spPr>
        <p:txBody>
          <a:bodyPr wrap="square" rtlCol="0">
            <a:spAutoFit/>
          </a:bodyPr>
          <a:lstStyle/>
          <a:p>
            <a:r>
              <a:rPr lang="en-US" dirty="0"/>
              <a:t>2</a:t>
            </a:r>
          </a:p>
        </p:txBody>
      </p:sp>
    </p:spTree>
    <p:extLst>
      <p:ext uri="{BB962C8B-B14F-4D97-AF65-F5344CB8AC3E}">
        <p14:creationId xmlns:p14="http://schemas.microsoft.com/office/powerpoint/2010/main" val="3974084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0DC057-53EC-7086-F931-AFBD763CFCB6}"/>
              </a:ext>
            </a:extLst>
          </p:cNvPr>
          <p:cNvSpPr/>
          <p:nvPr/>
        </p:nvSpPr>
        <p:spPr>
          <a:xfrm>
            <a:off x="0" y="-6350"/>
            <a:ext cx="12192000" cy="806450"/>
          </a:xfrm>
          <a:prstGeom prst="rect">
            <a:avLst/>
          </a:prstGeom>
          <a:solidFill>
            <a:srgbClr val="081E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just">
              <a:spcBef>
                <a:spcPts val="0"/>
              </a:spcBef>
              <a:spcAft>
                <a:spcPts val="0"/>
              </a:spcAft>
              <a:tabLst>
                <a:tab pos="2971800" algn="ctr"/>
                <a:tab pos="5943600" algn="r"/>
                <a:tab pos="457200" algn="l"/>
              </a:tabLst>
            </a:pPr>
            <a:r>
              <a:rPr lang="en-US" sz="1100" b="1" cap="all">
                <a:solidFill>
                  <a:srgbClr val="FFFFFF"/>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10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EB5AE14E-BAFA-0F65-A6EE-1E4710A39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64184" y="72946"/>
            <a:ext cx="2367806" cy="679263"/>
          </a:xfrm>
          <a:prstGeom prst="rect">
            <a:avLst/>
          </a:prstGeom>
        </p:spPr>
      </p:pic>
      <p:sp>
        <p:nvSpPr>
          <p:cNvPr id="4" name="TextBox 3">
            <a:extLst>
              <a:ext uri="{FF2B5EF4-FFF2-40B4-BE49-F238E27FC236}">
                <a16:creationId xmlns:a16="http://schemas.microsoft.com/office/drawing/2014/main" id="{4FDFBAEE-83FD-BD80-0ACE-EEF9CB68DCC0}"/>
              </a:ext>
            </a:extLst>
          </p:cNvPr>
          <p:cNvSpPr txBox="1"/>
          <p:nvPr/>
        </p:nvSpPr>
        <p:spPr>
          <a:xfrm>
            <a:off x="60010" y="121352"/>
            <a:ext cx="9928447" cy="58477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bg1"/>
                </a:solidFill>
                <a:effectLst/>
                <a:uLnTx/>
                <a:uFillTx/>
                <a:latin typeface="Calibri" panose="020F0502020204030204"/>
                <a:ea typeface="+mn-ea"/>
                <a:cs typeface="+mn-cs"/>
              </a:rPr>
              <a:t>Background</a:t>
            </a:r>
          </a:p>
        </p:txBody>
      </p:sp>
      <p:sp>
        <p:nvSpPr>
          <p:cNvPr id="6" name="TextBox 5">
            <a:extLst>
              <a:ext uri="{FF2B5EF4-FFF2-40B4-BE49-F238E27FC236}">
                <a16:creationId xmlns:a16="http://schemas.microsoft.com/office/drawing/2014/main" id="{C290EFF1-93C2-78AF-907F-346A5F777AE8}"/>
              </a:ext>
            </a:extLst>
          </p:cNvPr>
          <p:cNvSpPr txBox="1"/>
          <p:nvPr/>
        </p:nvSpPr>
        <p:spPr>
          <a:xfrm>
            <a:off x="399495" y="1242874"/>
            <a:ext cx="11514338" cy="3170099"/>
          </a:xfrm>
          <a:prstGeom prst="rect">
            <a:avLst/>
          </a:prstGeom>
          <a:noFill/>
        </p:spPr>
        <p:txBody>
          <a:bodyPr wrap="square" rtlCol="0">
            <a:spAutoFit/>
          </a:bodyPr>
          <a:lstStyle/>
          <a:p>
            <a:pPr marL="342900" indent="-342900" algn="jus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Arial" panose="020B0604020202020204" pitchFamily="34" charset="0"/>
              </a:rPr>
              <a:t>The Florida Building Commission (FBC) has been authorized by </a:t>
            </a:r>
            <a:r>
              <a:rPr kumimoji="0" lang="en-US" altLang="en-US" sz="2000" b="1" i="0" u="none" strike="noStrike" cap="none" normalizeH="0" baseline="0" dirty="0">
                <a:ln>
                  <a:noFill/>
                </a:ln>
                <a:solidFill>
                  <a:schemeClr val="tx1"/>
                </a:solidFill>
                <a:effectLst/>
                <a:latin typeface="Arial" panose="020B0604020202020204" pitchFamily="34" charset="0"/>
              </a:rPr>
              <a:t>Section 32 of HB 10 21–2024 </a:t>
            </a:r>
            <a:r>
              <a:rPr kumimoji="0" lang="en-US" altLang="en-US" sz="2000" b="0" i="0" u="none" strike="noStrike" cap="none" normalizeH="0" baseline="0" dirty="0">
                <a:ln>
                  <a:noFill/>
                </a:ln>
                <a:solidFill>
                  <a:schemeClr val="tx1"/>
                </a:solidFill>
                <a:effectLst/>
                <a:latin typeface="Arial" panose="020B0604020202020204" pitchFamily="34" charset="0"/>
              </a:rPr>
              <a:t>to conduct a study on standards to investigate and identify strategies to lessen or prevent water intrusion through sliding glass door tracks, including taking into account devices intended to further attenuate such water intrusion.</a:t>
            </a:r>
          </a:p>
          <a:p>
            <a:pPr marL="342900" indent="-342900" algn="just">
              <a:buFont typeface="Arial" panose="020B0604020202020204" pitchFamily="34" charset="0"/>
              <a:buChar char="•"/>
            </a:pPr>
            <a:endParaRPr lang="en-US" altLang="en-US" sz="2000" dirty="0">
              <a:latin typeface="Arial" panose="020B0604020202020204" pitchFamily="34" charset="0"/>
            </a:endParaRPr>
          </a:p>
          <a:p>
            <a:pPr marL="342900" indent="-342900" algn="jus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Arial" panose="020B0604020202020204" pitchFamily="34" charset="0"/>
              </a:rPr>
              <a:t>Wind-driven rain (WDR) infiltration may cause significant interior damage, property loss, and health risks due to mold and mildew, as seen by previous storms. Sliding glass doors (SGDs) are particularly susceptible to this kind of disruption. Right now, depending on the duration of the storm, the intensity of the rain, and the wind pressure applied to the door systems, different mitigation strategies may demonstrate varying levels of effectiveness. </a:t>
            </a:r>
          </a:p>
        </p:txBody>
      </p:sp>
      <p:cxnSp>
        <p:nvCxnSpPr>
          <p:cNvPr id="8" name="Straight Connector 7">
            <a:extLst>
              <a:ext uri="{FF2B5EF4-FFF2-40B4-BE49-F238E27FC236}">
                <a16:creationId xmlns:a16="http://schemas.microsoft.com/office/drawing/2014/main" id="{8D0C10B8-285B-BF62-E1B4-7135603313C6}"/>
              </a:ext>
            </a:extLst>
          </p:cNvPr>
          <p:cNvCxnSpPr/>
          <p:nvPr/>
        </p:nvCxnSpPr>
        <p:spPr bwMode="auto">
          <a:xfrm>
            <a:off x="-1" y="6830621"/>
            <a:ext cx="12192000" cy="0"/>
          </a:xfrm>
          <a:prstGeom prst="line">
            <a:avLst/>
          </a:prstGeom>
          <a:ln w="76200" cmpd="sng">
            <a:solidFill>
              <a:srgbClr val="000066"/>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EC2C4A3-A738-0764-FF66-056AF1612733}"/>
              </a:ext>
            </a:extLst>
          </p:cNvPr>
          <p:cNvSpPr txBox="1"/>
          <p:nvPr/>
        </p:nvSpPr>
        <p:spPr>
          <a:xfrm>
            <a:off x="11839235" y="6442649"/>
            <a:ext cx="352764" cy="369332"/>
          </a:xfrm>
          <a:prstGeom prst="rect">
            <a:avLst/>
          </a:prstGeom>
          <a:noFill/>
        </p:spPr>
        <p:txBody>
          <a:bodyPr wrap="square" rtlCol="0">
            <a:spAutoFit/>
          </a:bodyPr>
          <a:lstStyle/>
          <a:p>
            <a:r>
              <a:rPr lang="en-US" dirty="0"/>
              <a:t>3</a:t>
            </a:r>
          </a:p>
        </p:txBody>
      </p:sp>
    </p:spTree>
    <p:extLst>
      <p:ext uri="{BB962C8B-B14F-4D97-AF65-F5344CB8AC3E}">
        <p14:creationId xmlns:p14="http://schemas.microsoft.com/office/powerpoint/2010/main" val="3567093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DAA3C-A3D6-D970-839D-55335F8420E1}"/>
              </a:ext>
            </a:extLst>
          </p:cNvPr>
          <p:cNvSpPr/>
          <p:nvPr/>
        </p:nvSpPr>
        <p:spPr>
          <a:xfrm>
            <a:off x="0" y="-6350"/>
            <a:ext cx="12192000" cy="806450"/>
          </a:xfrm>
          <a:prstGeom prst="rect">
            <a:avLst/>
          </a:prstGeom>
          <a:solidFill>
            <a:srgbClr val="081E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just">
              <a:spcBef>
                <a:spcPts val="0"/>
              </a:spcBef>
              <a:spcAft>
                <a:spcPts val="0"/>
              </a:spcAft>
              <a:tabLst>
                <a:tab pos="2971800" algn="ctr"/>
                <a:tab pos="5943600" algn="r"/>
                <a:tab pos="457200" algn="l"/>
              </a:tabLst>
            </a:pPr>
            <a:r>
              <a:rPr lang="en-US" sz="1100" b="1" cap="all">
                <a:solidFill>
                  <a:srgbClr val="FFFFFF"/>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10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85A1F6D0-A57B-DF2B-695A-08753E18DD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64184" y="72946"/>
            <a:ext cx="2367806" cy="679263"/>
          </a:xfrm>
          <a:prstGeom prst="rect">
            <a:avLst/>
          </a:prstGeom>
        </p:spPr>
      </p:pic>
      <p:sp>
        <p:nvSpPr>
          <p:cNvPr id="4" name="TextBox 3">
            <a:extLst>
              <a:ext uri="{FF2B5EF4-FFF2-40B4-BE49-F238E27FC236}">
                <a16:creationId xmlns:a16="http://schemas.microsoft.com/office/drawing/2014/main" id="{D150615D-2C46-9CE1-245F-3632234255F0}"/>
              </a:ext>
            </a:extLst>
          </p:cNvPr>
          <p:cNvSpPr txBox="1"/>
          <p:nvPr/>
        </p:nvSpPr>
        <p:spPr>
          <a:xfrm>
            <a:off x="60010" y="121352"/>
            <a:ext cx="9928447" cy="58477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3200" b="1" dirty="0">
                <a:solidFill>
                  <a:schemeClr val="bg1">
                    <a:lumMod val="95000"/>
                  </a:schemeClr>
                </a:solidFill>
              </a:rPr>
              <a:t>Motivation and Purpose of the Study</a:t>
            </a:r>
            <a:endParaRPr kumimoji="0" lang="en-US" sz="3200" b="1" i="0" u="none" strike="noStrike" kern="1200" cap="none" spc="0" normalizeH="0" baseline="0" noProof="0" dirty="0">
              <a:ln>
                <a:noFill/>
              </a:ln>
              <a:solidFill>
                <a:schemeClr val="bg1">
                  <a:lumMod val="95000"/>
                </a:scheme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B4C2327-DD7D-97D7-7365-AA302781E8B5}"/>
              </a:ext>
            </a:extLst>
          </p:cNvPr>
          <p:cNvSpPr txBox="1"/>
          <p:nvPr/>
        </p:nvSpPr>
        <p:spPr>
          <a:xfrm>
            <a:off x="415636" y="1182255"/>
            <a:ext cx="11351491" cy="3170099"/>
          </a:xfrm>
          <a:prstGeom prst="rect">
            <a:avLst/>
          </a:prstGeom>
          <a:noFill/>
        </p:spPr>
        <p:txBody>
          <a:bodyPr wrap="square" rtlCol="0">
            <a:spAutoFit/>
          </a:bodyPr>
          <a:lstStyle/>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objective of this review is to enhance building resilience and occupant safety through the mitigation of water intrusion risks in hurricane-prone areas, the maintenance of standards in line with the increasing intensity of hurricanes because of climate change, and the promotion of better code development and compliance for regulators, builders, and architects. </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000" dirty="0">
              <a:latin typeface="Arial" panose="020B0604020202020204" pitchFamily="34" charset="0"/>
            </a:endParaRPr>
          </a:p>
          <a:p>
            <a:pPr marL="342900" indent="-342900" defTabSz="9144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Arial" panose="020B0604020202020204" pitchFamily="34" charset="0"/>
              </a:rPr>
              <a:t>Additionally, the literature evaluation will point out any holes or flaws in the SGDs testing technique that has been used and provide suggestions for strengthening the standards to strengthen sliding glass door systems' resistance to WDR. </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cxnSp>
        <p:nvCxnSpPr>
          <p:cNvPr id="8" name="Straight Connector 7">
            <a:extLst>
              <a:ext uri="{FF2B5EF4-FFF2-40B4-BE49-F238E27FC236}">
                <a16:creationId xmlns:a16="http://schemas.microsoft.com/office/drawing/2014/main" id="{ECAF84C9-4DF2-A08B-B069-03C43F9428DB}"/>
              </a:ext>
            </a:extLst>
          </p:cNvPr>
          <p:cNvCxnSpPr/>
          <p:nvPr/>
        </p:nvCxnSpPr>
        <p:spPr bwMode="auto">
          <a:xfrm>
            <a:off x="-1" y="6830621"/>
            <a:ext cx="12192000" cy="0"/>
          </a:xfrm>
          <a:prstGeom prst="line">
            <a:avLst/>
          </a:prstGeom>
          <a:ln w="76200" cmpd="sng">
            <a:solidFill>
              <a:srgbClr val="000066"/>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3CE1DE2-8AA0-752B-AA93-2F4312AEAC74}"/>
              </a:ext>
            </a:extLst>
          </p:cNvPr>
          <p:cNvSpPr txBox="1"/>
          <p:nvPr/>
        </p:nvSpPr>
        <p:spPr>
          <a:xfrm>
            <a:off x="11839235" y="6442649"/>
            <a:ext cx="352764" cy="369332"/>
          </a:xfrm>
          <a:prstGeom prst="rect">
            <a:avLst/>
          </a:prstGeom>
          <a:noFill/>
        </p:spPr>
        <p:txBody>
          <a:bodyPr wrap="square" rtlCol="0">
            <a:spAutoFit/>
          </a:bodyPr>
          <a:lstStyle/>
          <a:p>
            <a:r>
              <a:rPr lang="en-US" dirty="0"/>
              <a:t>4</a:t>
            </a:r>
          </a:p>
        </p:txBody>
      </p:sp>
    </p:spTree>
    <p:extLst>
      <p:ext uri="{BB962C8B-B14F-4D97-AF65-F5344CB8AC3E}">
        <p14:creationId xmlns:p14="http://schemas.microsoft.com/office/powerpoint/2010/main" val="377969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5EFFDFB-3A2A-CD3E-B8E3-851E7E5ECF60}"/>
              </a:ext>
            </a:extLst>
          </p:cNvPr>
          <p:cNvSpPr/>
          <p:nvPr/>
        </p:nvSpPr>
        <p:spPr>
          <a:xfrm>
            <a:off x="0" y="-6350"/>
            <a:ext cx="12192000" cy="806450"/>
          </a:xfrm>
          <a:prstGeom prst="rect">
            <a:avLst/>
          </a:prstGeom>
          <a:solidFill>
            <a:srgbClr val="081E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just">
              <a:spcBef>
                <a:spcPts val="0"/>
              </a:spcBef>
              <a:spcAft>
                <a:spcPts val="0"/>
              </a:spcAft>
              <a:tabLst>
                <a:tab pos="2971800" algn="ctr"/>
                <a:tab pos="5943600" algn="r"/>
                <a:tab pos="457200" algn="l"/>
              </a:tabLst>
            </a:pPr>
            <a:r>
              <a:rPr lang="en-US" sz="1100" b="1" cap="all">
                <a:solidFill>
                  <a:srgbClr val="FFFFFF"/>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10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20" name="Picture 19">
            <a:extLst>
              <a:ext uri="{FF2B5EF4-FFF2-40B4-BE49-F238E27FC236}">
                <a16:creationId xmlns:a16="http://schemas.microsoft.com/office/drawing/2014/main" id="{344B7E6A-4296-94B8-50EA-54406B7833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4184" y="72946"/>
            <a:ext cx="2367806" cy="679263"/>
          </a:xfrm>
          <a:prstGeom prst="rect">
            <a:avLst/>
          </a:prstGeom>
        </p:spPr>
      </p:pic>
      <p:cxnSp>
        <p:nvCxnSpPr>
          <p:cNvPr id="75" name="Straight Connector 74">
            <a:extLst>
              <a:ext uri="{FF2B5EF4-FFF2-40B4-BE49-F238E27FC236}">
                <a16:creationId xmlns:a16="http://schemas.microsoft.com/office/drawing/2014/main" id="{3D8E323E-DB54-4A2F-B732-A336D1D2B5C9}"/>
              </a:ext>
            </a:extLst>
          </p:cNvPr>
          <p:cNvCxnSpPr/>
          <p:nvPr/>
        </p:nvCxnSpPr>
        <p:spPr bwMode="auto">
          <a:xfrm>
            <a:off x="-1" y="6830621"/>
            <a:ext cx="12192000" cy="0"/>
          </a:xfrm>
          <a:prstGeom prst="line">
            <a:avLst/>
          </a:prstGeom>
          <a:ln w="76200" cmpd="sng">
            <a:solidFill>
              <a:srgbClr val="000066"/>
            </a:solidFill>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494E7E1D-18A2-4A6B-B6B8-5F58E8B3CBFB}"/>
              </a:ext>
            </a:extLst>
          </p:cNvPr>
          <p:cNvSpPr txBox="1"/>
          <p:nvPr/>
        </p:nvSpPr>
        <p:spPr>
          <a:xfrm>
            <a:off x="60010" y="121352"/>
            <a:ext cx="9928447" cy="58477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bg1"/>
                </a:solidFill>
                <a:effectLst/>
                <a:uLnTx/>
                <a:uFillTx/>
                <a:latin typeface="Calibri" panose="020F0502020204030204"/>
                <a:ea typeface="+mn-ea"/>
                <a:cs typeface="+mn-cs"/>
              </a:rPr>
              <a:t>Scope of Work</a:t>
            </a:r>
          </a:p>
        </p:txBody>
      </p:sp>
      <p:sp>
        <p:nvSpPr>
          <p:cNvPr id="110" name="TextBox 109">
            <a:extLst>
              <a:ext uri="{FF2B5EF4-FFF2-40B4-BE49-F238E27FC236}">
                <a16:creationId xmlns:a16="http://schemas.microsoft.com/office/drawing/2014/main" id="{B5EF1FB5-73A3-4174-BDB8-CF49EE0B02F0}"/>
              </a:ext>
            </a:extLst>
          </p:cNvPr>
          <p:cNvSpPr txBox="1"/>
          <p:nvPr/>
        </p:nvSpPr>
        <p:spPr>
          <a:xfrm>
            <a:off x="11839235" y="6442649"/>
            <a:ext cx="352764" cy="369332"/>
          </a:xfrm>
          <a:prstGeom prst="rect">
            <a:avLst/>
          </a:prstGeom>
          <a:noFill/>
        </p:spPr>
        <p:txBody>
          <a:bodyPr wrap="square" rtlCol="0">
            <a:spAutoFit/>
          </a:bodyPr>
          <a:lstStyle/>
          <a:p>
            <a:r>
              <a:rPr lang="en-US" dirty="0"/>
              <a:t>5</a:t>
            </a:r>
          </a:p>
        </p:txBody>
      </p:sp>
      <p:sp>
        <p:nvSpPr>
          <p:cNvPr id="17" name="TextBox 16">
            <a:extLst>
              <a:ext uri="{FF2B5EF4-FFF2-40B4-BE49-F238E27FC236}">
                <a16:creationId xmlns:a16="http://schemas.microsoft.com/office/drawing/2014/main" id="{50452490-ECBB-5B5A-2823-34322B21B6D7}"/>
              </a:ext>
            </a:extLst>
          </p:cNvPr>
          <p:cNvSpPr txBox="1"/>
          <p:nvPr/>
        </p:nvSpPr>
        <p:spPr>
          <a:xfrm>
            <a:off x="191895" y="1537626"/>
            <a:ext cx="11757878" cy="4765407"/>
          </a:xfrm>
          <a:prstGeom prst="rect">
            <a:avLst/>
          </a:prstGeom>
          <a:noFill/>
        </p:spPr>
        <p:txBody>
          <a:bodyPr wrap="square">
            <a:spAutoFit/>
          </a:bodyPr>
          <a:lstStyle/>
          <a:p>
            <a:pPr marL="342900" indent="-342900" algn="just" defTabSz="457200">
              <a:lnSpc>
                <a:spcPct val="150000"/>
              </a:lnSpc>
              <a:spcBef>
                <a:spcPts val="1200"/>
              </a:spcBef>
              <a:buFont typeface="Arial" panose="020B0604020202020204" pitchFamily="34" charset="0"/>
              <a:buChar char="•"/>
            </a:pPr>
            <a:r>
              <a:rPr lang="en-US" sz="2000" dirty="0">
                <a:latin typeface="Arial" panose="020B0604020202020204" pitchFamily="34" charset="0"/>
                <a:cs typeface="Arial" panose="020B0604020202020204" pitchFamily="34" charset="0"/>
              </a:rPr>
              <a:t>The objective of this task is to form a technical advisory committee (TAC) to guide the research program.  </a:t>
            </a:r>
          </a:p>
          <a:p>
            <a:pPr marL="342900" indent="-342900" algn="just" defTabSz="457200">
              <a:lnSpc>
                <a:spcPct val="150000"/>
              </a:lnSpc>
              <a:spcBef>
                <a:spcPts val="1200"/>
              </a:spcBef>
              <a:buFont typeface="Arial" panose="020B0604020202020204" pitchFamily="34" charset="0"/>
              <a:buChar char="•"/>
            </a:pPr>
            <a:r>
              <a:rPr lang="en-US" sz="2000" dirty="0">
                <a:latin typeface="Arial" panose="020B0604020202020204" pitchFamily="34" charset="0"/>
                <a:cs typeface="Arial" panose="020B0604020202020204" pitchFamily="34" charset="0"/>
              </a:rPr>
              <a:t>TAC members shall represent different groups of practitioners and academics. </a:t>
            </a:r>
          </a:p>
          <a:p>
            <a:pPr marL="342900" indent="-342900" algn="just" defTabSz="457200">
              <a:lnSpc>
                <a:spcPct val="150000"/>
              </a:lnSpc>
              <a:spcBef>
                <a:spcPts val="1200"/>
              </a:spcBef>
              <a:buFont typeface="Arial" panose="020B0604020202020204" pitchFamily="34" charset="0"/>
              <a:buChar char="•"/>
            </a:pPr>
            <a:r>
              <a:rPr lang="en-US" sz="2000" dirty="0">
                <a:latin typeface="Arial" panose="020B0604020202020204" pitchFamily="34" charset="0"/>
                <a:cs typeface="Arial" panose="020B0604020202020204" pitchFamily="34" charset="0"/>
              </a:rPr>
              <a:t>This may include representatives from the fenestration and building component and cladding manufacturing industries, testing laboratories, architectural firms, engineering firms, and code officials. </a:t>
            </a:r>
          </a:p>
          <a:p>
            <a:pPr marL="342900" indent="-342900" algn="just" defTabSz="457200">
              <a:lnSpc>
                <a:spcPct val="150000"/>
              </a:lnSpc>
              <a:spcBef>
                <a:spcPts val="1200"/>
              </a:spcBef>
              <a:buFont typeface="Arial" panose="020B0604020202020204" pitchFamily="34" charset="0"/>
              <a:buChar char="•"/>
            </a:pPr>
            <a:r>
              <a:rPr lang="en-US" sz="2000" dirty="0">
                <a:latin typeface="Arial" panose="020B0604020202020204" pitchFamily="34" charset="0"/>
                <a:cs typeface="Arial" panose="020B0604020202020204" pitchFamily="34" charset="0"/>
              </a:rPr>
              <a:t>The role of this TAC will be to evaluate various methods of WDR testing and inform revisions to current testing protocols for studying WDR intrusion through tracks of sliding glass door systems. </a:t>
            </a:r>
          </a:p>
          <a:p>
            <a:pPr marL="342900" indent="-342900" algn="just" defTabSz="457200">
              <a:lnSpc>
                <a:spcPct val="150000"/>
              </a:lnSpc>
              <a:spcBef>
                <a:spcPts val="1200"/>
              </a:spcBef>
              <a:buFont typeface="Arial" panose="020B0604020202020204" pitchFamily="34" charset="0"/>
              <a:buChar char="•"/>
            </a:pPr>
            <a:r>
              <a:rPr lang="en-US" sz="2000" dirty="0">
                <a:latin typeface="Arial" panose="020B0604020202020204" pitchFamily="34" charset="0"/>
                <a:cs typeface="Arial" panose="020B0604020202020204" pitchFamily="34" charset="0"/>
              </a:rPr>
              <a:t>The TAC shall convene by video conference on a minimum of five occasions.</a:t>
            </a:r>
          </a:p>
        </p:txBody>
      </p:sp>
      <p:sp>
        <p:nvSpPr>
          <p:cNvPr id="2" name="TextBox 1">
            <a:extLst>
              <a:ext uri="{FF2B5EF4-FFF2-40B4-BE49-F238E27FC236}">
                <a16:creationId xmlns:a16="http://schemas.microsoft.com/office/drawing/2014/main" id="{6044B078-C194-AEEF-236E-E96276A92170}"/>
              </a:ext>
            </a:extLst>
          </p:cNvPr>
          <p:cNvSpPr txBox="1"/>
          <p:nvPr/>
        </p:nvSpPr>
        <p:spPr>
          <a:xfrm>
            <a:off x="191895" y="907253"/>
            <a:ext cx="9265467" cy="523220"/>
          </a:xfrm>
          <a:prstGeom prst="rect">
            <a:avLst/>
          </a:prstGeom>
          <a:noFill/>
        </p:spPr>
        <p:txBody>
          <a:bodyPr wrap="square" rtlCol="0">
            <a:spAutoFit/>
          </a:bodyPr>
          <a:lstStyle/>
          <a:p>
            <a:r>
              <a:rPr lang="en-US" sz="2800" b="1" dirty="0">
                <a:solidFill>
                  <a:srgbClr val="0F1C7B"/>
                </a:solidFill>
              </a:rPr>
              <a:t>Task 1: Formation of A Technical Advisory Committee (TAC) </a:t>
            </a:r>
          </a:p>
        </p:txBody>
      </p:sp>
    </p:spTree>
    <p:extLst>
      <p:ext uri="{BB962C8B-B14F-4D97-AF65-F5344CB8AC3E}">
        <p14:creationId xmlns:p14="http://schemas.microsoft.com/office/powerpoint/2010/main" val="656517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DF223C-DA76-71E8-4776-3379ABC5D9A6}"/>
              </a:ext>
            </a:extLst>
          </p:cNvPr>
          <p:cNvSpPr/>
          <p:nvPr/>
        </p:nvSpPr>
        <p:spPr>
          <a:xfrm>
            <a:off x="0" y="-6350"/>
            <a:ext cx="12192000" cy="806450"/>
          </a:xfrm>
          <a:prstGeom prst="rect">
            <a:avLst/>
          </a:prstGeom>
          <a:solidFill>
            <a:srgbClr val="081E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just">
              <a:spcBef>
                <a:spcPts val="0"/>
              </a:spcBef>
              <a:spcAft>
                <a:spcPts val="0"/>
              </a:spcAft>
              <a:tabLst>
                <a:tab pos="2971800" algn="ctr"/>
                <a:tab pos="5943600" algn="r"/>
                <a:tab pos="457200" algn="l"/>
              </a:tabLst>
            </a:pPr>
            <a:r>
              <a:rPr lang="en-US" sz="1100" b="1" cap="all">
                <a:solidFill>
                  <a:srgbClr val="FFFFFF"/>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10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A78F1260-B836-16E8-284A-0B9B3D8DED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64184" y="72946"/>
            <a:ext cx="2367806" cy="679263"/>
          </a:xfrm>
          <a:prstGeom prst="rect">
            <a:avLst/>
          </a:prstGeom>
        </p:spPr>
      </p:pic>
      <p:sp>
        <p:nvSpPr>
          <p:cNvPr id="6" name="TextBox 5">
            <a:extLst>
              <a:ext uri="{FF2B5EF4-FFF2-40B4-BE49-F238E27FC236}">
                <a16:creationId xmlns:a16="http://schemas.microsoft.com/office/drawing/2014/main" id="{38D44715-5660-C798-4D91-0A1AA74C3421}"/>
              </a:ext>
            </a:extLst>
          </p:cNvPr>
          <p:cNvSpPr txBox="1"/>
          <p:nvPr/>
        </p:nvSpPr>
        <p:spPr>
          <a:xfrm>
            <a:off x="184731" y="1905506"/>
            <a:ext cx="11683013" cy="2862322"/>
          </a:xfrm>
          <a:prstGeom prst="rect">
            <a:avLst/>
          </a:prstGeom>
          <a:noFill/>
        </p:spPr>
        <p:txBody>
          <a:bodyPr wrap="square" rtlCol="0">
            <a:spAutoFit/>
          </a:bodyPr>
          <a:lstStyle/>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 15-person Technical Advisory Committee (TAC) was established by the PI and Co-PIs. On September 12, 2024, the TAC met for the first time to address the influence of sample sizes on rainwater intrusion, limits of the present pass/fail water intrusion criteria, and plans for literature reviews. </a:t>
            </a: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000" dirty="0">
              <a:latin typeface="Arial" panose="020B0604020202020204" pitchFamily="34" charset="0"/>
            </a:endParaRPr>
          </a:p>
          <a:p>
            <a:pPr marL="342900" marR="0" lvl="0" indent="-3429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TAC contributed significantly to the improvement of sliding glass door standards and possible modifications to the 15% positive Design Pressure (DP) rating for WDR, including field findings from Hurricane Ian.</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cxnSp>
        <p:nvCxnSpPr>
          <p:cNvPr id="8" name="Straight Connector 7">
            <a:extLst>
              <a:ext uri="{FF2B5EF4-FFF2-40B4-BE49-F238E27FC236}">
                <a16:creationId xmlns:a16="http://schemas.microsoft.com/office/drawing/2014/main" id="{09432B5E-EADA-479B-0693-D67C5C913494}"/>
              </a:ext>
            </a:extLst>
          </p:cNvPr>
          <p:cNvCxnSpPr/>
          <p:nvPr/>
        </p:nvCxnSpPr>
        <p:spPr bwMode="auto">
          <a:xfrm>
            <a:off x="-1" y="6830621"/>
            <a:ext cx="12192000" cy="0"/>
          </a:xfrm>
          <a:prstGeom prst="line">
            <a:avLst/>
          </a:prstGeom>
          <a:ln w="76200" cmpd="sng">
            <a:solidFill>
              <a:srgbClr val="000066"/>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00440D8-C7DF-7B75-FF3F-C663081E7602}"/>
              </a:ext>
            </a:extLst>
          </p:cNvPr>
          <p:cNvSpPr txBox="1"/>
          <p:nvPr/>
        </p:nvSpPr>
        <p:spPr>
          <a:xfrm>
            <a:off x="60010" y="121352"/>
            <a:ext cx="9928447" cy="58477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bg1"/>
                </a:solidFill>
                <a:effectLst/>
                <a:uLnTx/>
                <a:uFillTx/>
                <a:latin typeface="Calibri" panose="020F0502020204030204"/>
                <a:ea typeface="+mn-ea"/>
                <a:cs typeface="+mn-cs"/>
              </a:rPr>
              <a:t>Scope of Work</a:t>
            </a:r>
          </a:p>
        </p:txBody>
      </p:sp>
      <p:sp>
        <p:nvSpPr>
          <p:cNvPr id="10" name="TextBox 9">
            <a:extLst>
              <a:ext uri="{FF2B5EF4-FFF2-40B4-BE49-F238E27FC236}">
                <a16:creationId xmlns:a16="http://schemas.microsoft.com/office/drawing/2014/main" id="{48452DB6-B01E-AFC1-6230-30A110FE7235}"/>
              </a:ext>
            </a:extLst>
          </p:cNvPr>
          <p:cNvSpPr txBox="1"/>
          <p:nvPr/>
        </p:nvSpPr>
        <p:spPr>
          <a:xfrm>
            <a:off x="11839235" y="6442649"/>
            <a:ext cx="352764" cy="369332"/>
          </a:xfrm>
          <a:prstGeom prst="rect">
            <a:avLst/>
          </a:prstGeom>
          <a:noFill/>
        </p:spPr>
        <p:txBody>
          <a:bodyPr wrap="square" rtlCol="0">
            <a:spAutoFit/>
          </a:bodyPr>
          <a:lstStyle/>
          <a:p>
            <a:r>
              <a:rPr lang="en-US" dirty="0"/>
              <a:t>6</a:t>
            </a:r>
          </a:p>
        </p:txBody>
      </p:sp>
    </p:spTree>
    <p:extLst>
      <p:ext uri="{BB962C8B-B14F-4D97-AF65-F5344CB8AC3E}">
        <p14:creationId xmlns:p14="http://schemas.microsoft.com/office/powerpoint/2010/main" val="395165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BA215-0420-1EF7-A6EC-7C6E8E215B83}"/>
            </a:ext>
          </a:extLst>
        </p:cNvPr>
        <p:cNvGrpSpPr/>
        <p:nvPr/>
      </p:nvGrpSpPr>
      <p:grpSpPr>
        <a:xfrm>
          <a:off x="0" y="0"/>
          <a:ext cx="0" cy="0"/>
          <a:chOff x="0" y="0"/>
          <a:chExt cx="0" cy="0"/>
        </a:xfrm>
      </p:grpSpPr>
      <p:cxnSp>
        <p:nvCxnSpPr>
          <p:cNvPr id="75" name="Straight Connector 74">
            <a:extLst>
              <a:ext uri="{FF2B5EF4-FFF2-40B4-BE49-F238E27FC236}">
                <a16:creationId xmlns:a16="http://schemas.microsoft.com/office/drawing/2014/main" id="{27EB111E-9FB9-1607-F95D-AF059C7B414B}"/>
              </a:ext>
            </a:extLst>
          </p:cNvPr>
          <p:cNvCxnSpPr/>
          <p:nvPr/>
        </p:nvCxnSpPr>
        <p:spPr bwMode="auto">
          <a:xfrm>
            <a:off x="-1" y="6830621"/>
            <a:ext cx="12192000" cy="0"/>
          </a:xfrm>
          <a:prstGeom prst="line">
            <a:avLst/>
          </a:prstGeom>
          <a:ln w="76200" cmpd="sng">
            <a:solidFill>
              <a:srgbClr val="000066"/>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C67F2F20-9ABF-9490-EB26-2F18C74DA421}"/>
              </a:ext>
            </a:extLst>
          </p:cNvPr>
          <p:cNvSpPr txBox="1"/>
          <p:nvPr/>
        </p:nvSpPr>
        <p:spPr>
          <a:xfrm>
            <a:off x="11839235" y="6442649"/>
            <a:ext cx="352764" cy="369332"/>
          </a:xfrm>
          <a:prstGeom prst="rect">
            <a:avLst/>
          </a:prstGeom>
          <a:noFill/>
        </p:spPr>
        <p:txBody>
          <a:bodyPr wrap="square" rtlCol="0">
            <a:spAutoFit/>
          </a:bodyPr>
          <a:lstStyle/>
          <a:p>
            <a:r>
              <a:rPr lang="en-US" dirty="0"/>
              <a:t>7</a:t>
            </a:r>
          </a:p>
        </p:txBody>
      </p:sp>
      <p:sp>
        <p:nvSpPr>
          <p:cNvPr id="6" name="Rectangle 5">
            <a:extLst>
              <a:ext uri="{FF2B5EF4-FFF2-40B4-BE49-F238E27FC236}">
                <a16:creationId xmlns:a16="http://schemas.microsoft.com/office/drawing/2014/main" id="{AF1F073E-799B-F854-5EC1-CBECFF3C25FE}"/>
              </a:ext>
            </a:extLst>
          </p:cNvPr>
          <p:cNvSpPr/>
          <p:nvPr/>
        </p:nvSpPr>
        <p:spPr>
          <a:xfrm>
            <a:off x="0" y="-6350"/>
            <a:ext cx="12192000" cy="806450"/>
          </a:xfrm>
          <a:prstGeom prst="rect">
            <a:avLst/>
          </a:prstGeom>
          <a:solidFill>
            <a:srgbClr val="081E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just">
              <a:spcBef>
                <a:spcPts val="0"/>
              </a:spcBef>
              <a:spcAft>
                <a:spcPts val="0"/>
              </a:spcAft>
              <a:tabLst>
                <a:tab pos="2971800" algn="ctr"/>
                <a:tab pos="5943600" algn="r"/>
                <a:tab pos="457200" algn="l"/>
              </a:tabLst>
            </a:pPr>
            <a:r>
              <a:rPr lang="en-US" sz="1100" b="1" cap="all">
                <a:solidFill>
                  <a:srgbClr val="FFFFFF"/>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10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F7AD12B4-BF2D-C2C7-937F-5922C97F32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4184" y="72946"/>
            <a:ext cx="2367806" cy="679263"/>
          </a:xfrm>
          <a:prstGeom prst="rect">
            <a:avLst/>
          </a:prstGeom>
        </p:spPr>
      </p:pic>
      <p:sp>
        <p:nvSpPr>
          <p:cNvPr id="8" name="TextBox 7">
            <a:extLst>
              <a:ext uri="{FF2B5EF4-FFF2-40B4-BE49-F238E27FC236}">
                <a16:creationId xmlns:a16="http://schemas.microsoft.com/office/drawing/2014/main" id="{A1A9B45B-948A-BAB2-6A7C-5CF8EE2372FB}"/>
              </a:ext>
            </a:extLst>
          </p:cNvPr>
          <p:cNvSpPr txBox="1"/>
          <p:nvPr/>
        </p:nvSpPr>
        <p:spPr>
          <a:xfrm>
            <a:off x="60010" y="121352"/>
            <a:ext cx="9928447" cy="58477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bg1"/>
                </a:solidFill>
                <a:effectLst/>
                <a:uLnTx/>
                <a:uFillTx/>
                <a:latin typeface="Calibri" panose="020F0502020204030204"/>
                <a:ea typeface="+mn-ea"/>
                <a:cs typeface="+mn-cs"/>
              </a:rPr>
              <a:t>Methodology</a:t>
            </a:r>
          </a:p>
        </p:txBody>
      </p:sp>
      <p:sp>
        <p:nvSpPr>
          <p:cNvPr id="2" name="TextBox 1">
            <a:extLst>
              <a:ext uri="{FF2B5EF4-FFF2-40B4-BE49-F238E27FC236}">
                <a16:creationId xmlns:a16="http://schemas.microsoft.com/office/drawing/2014/main" id="{8742A0A8-E498-1386-0031-04A9F4C70CDF}"/>
              </a:ext>
            </a:extLst>
          </p:cNvPr>
          <p:cNvSpPr txBox="1"/>
          <p:nvPr/>
        </p:nvSpPr>
        <p:spPr>
          <a:xfrm>
            <a:off x="191895" y="907253"/>
            <a:ext cx="9265467" cy="523220"/>
          </a:xfrm>
          <a:prstGeom prst="rect">
            <a:avLst/>
          </a:prstGeom>
          <a:noFill/>
        </p:spPr>
        <p:txBody>
          <a:bodyPr wrap="square" rtlCol="0">
            <a:spAutoFit/>
          </a:bodyPr>
          <a:lstStyle/>
          <a:p>
            <a:r>
              <a:rPr lang="en-US" sz="2800" b="1" dirty="0">
                <a:solidFill>
                  <a:srgbClr val="0F1C7B"/>
                </a:solidFill>
              </a:rPr>
              <a:t>Task 2: Reviewing Existing Literature, Reports, and Standards</a:t>
            </a:r>
          </a:p>
        </p:txBody>
      </p:sp>
      <p:sp>
        <p:nvSpPr>
          <p:cNvPr id="3" name="TextBox 2">
            <a:extLst>
              <a:ext uri="{FF2B5EF4-FFF2-40B4-BE49-F238E27FC236}">
                <a16:creationId xmlns:a16="http://schemas.microsoft.com/office/drawing/2014/main" id="{56471D72-61EF-70A9-5790-5F55752DBD1B}"/>
              </a:ext>
            </a:extLst>
          </p:cNvPr>
          <p:cNvSpPr txBox="1"/>
          <p:nvPr/>
        </p:nvSpPr>
        <p:spPr>
          <a:xfrm>
            <a:off x="191895" y="1390560"/>
            <a:ext cx="8068527" cy="5421421"/>
          </a:xfrm>
          <a:prstGeom prst="rect">
            <a:avLst/>
          </a:prstGeom>
          <a:noFill/>
        </p:spPr>
        <p:txBody>
          <a:bodyPr wrap="square">
            <a:spAutoFit/>
          </a:bodyPr>
          <a:lstStyle/>
          <a:p>
            <a:pPr marL="342900" indent="-342900" algn="just" defTabSz="457200">
              <a:lnSpc>
                <a:spcPct val="150000"/>
              </a:lnSpc>
              <a:spcBef>
                <a:spcPts val="1200"/>
              </a:spcBef>
              <a:buFont typeface="Arial" panose="020B0604020202020204" pitchFamily="34" charset="0"/>
              <a:buChar char="•"/>
            </a:pPr>
            <a:r>
              <a:rPr lang="en-US" sz="2000" dirty="0">
                <a:latin typeface="Arial" panose="020B0604020202020204" pitchFamily="34" charset="0"/>
                <a:cs typeface="Arial" panose="020B0604020202020204" pitchFamily="34" charset="0"/>
              </a:rPr>
              <a:t>Based on the recommendations from the technical advisory committee, FIU-CEE, and UF-CEE shall review current testing standards and relevant literature and reports related to WDR intrusion through tracks of sliding glass doors. </a:t>
            </a:r>
          </a:p>
          <a:p>
            <a:pPr marL="342900" indent="-342900" algn="just" defTabSz="457200">
              <a:lnSpc>
                <a:spcPct val="150000"/>
              </a:lnSpc>
              <a:spcBef>
                <a:spcPts val="1200"/>
              </a:spcBef>
              <a:buFont typeface="Arial" panose="020B0604020202020204" pitchFamily="34" charset="0"/>
              <a:buChar char="•"/>
            </a:pPr>
            <a:r>
              <a:rPr lang="en-US" sz="2000" dirty="0">
                <a:latin typeface="Arial" panose="020B0604020202020204" pitchFamily="34" charset="0"/>
                <a:cs typeface="Arial" panose="020B0604020202020204" pitchFamily="34" charset="0"/>
              </a:rPr>
              <a:t>FIU-CEE shall research studies and test results on WDR experiments previously performed at the NHERI Wall of Wind Experimental Facility (WOW EF) at FIU and other facilities including the University of Florida NHERI EF. </a:t>
            </a:r>
          </a:p>
          <a:p>
            <a:pPr marL="342900" indent="-342900" algn="just" defTabSz="457200">
              <a:lnSpc>
                <a:spcPct val="150000"/>
              </a:lnSpc>
              <a:spcBef>
                <a:spcPts val="1200"/>
              </a:spcBef>
              <a:buFont typeface="Arial" panose="020B0604020202020204" pitchFamily="34" charset="0"/>
              <a:buChar char="•"/>
            </a:pPr>
            <a:r>
              <a:rPr lang="en-US" sz="2000" dirty="0">
                <a:latin typeface="Arial" panose="020B0604020202020204" pitchFamily="34" charset="0"/>
                <a:cs typeface="Arial" panose="020B0604020202020204" pitchFamily="34" charset="0"/>
              </a:rPr>
              <a:t>FIU-CEE shall provide a summary of the literature and testing review outlining the recommendations and conclusions of each research study reviewed.</a:t>
            </a:r>
          </a:p>
        </p:txBody>
      </p:sp>
      <p:sp>
        <p:nvSpPr>
          <p:cNvPr id="4" name="TextBox 3">
            <a:extLst>
              <a:ext uri="{FF2B5EF4-FFF2-40B4-BE49-F238E27FC236}">
                <a16:creationId xmlns:a16="http://schemas.microsoft.com/office/drawing/2014/main" id="{05934743-230E-0B7E-F2FF-B8BDF575595B}"/>
              </a:ext>
            </a:extLst>
          </p:cNvPr>
          <p:cNvSpPr txBox="1"/>
          <p:nvPr/>
        </p:nvSpPr>
        <p:spPr>
          <a:xfrm>
            <a:off x="8501865" y="3621267"/>
            <a:ext cx="3396066" cy="307777"/>
          </a:xfrm>
          <a:prstGeom prst="rect">
            <a:avLst/>
          </a:prstGeom>
          <a:solidFill>
            <a:schemeClr val="tx1">
              <a:lumMod val="65000"/>
              <a:lumOff val="35000"/>
            </a:schemeClr>
          </a:solidFill>
          <a:ln>
            <a:noFill/>
          </a:ln>
        </p:spPr>
        <p:txBody>
          <a:bodyPr wrap="square">
            <a:spAutoFit/>
          </a:bodyPr>
          <a:lstStyle/>
          <a:p>
            <a:pPr eaLnBrk="1" hangingPunct="1">
              <a:defRPr/>
            </a:pPr>
            <a:r>
              <a:rPr lang="en-US" sz="1400" dirty="0">
                <a:solidFill>
                  <a:schemeClr val="bg1"/>
                </a:solidFill>
              </a:rPr>
              <a:t>Wind-Driven Rain Test of Full-Scale Model</a:t>
            </a:r>
          </a:p>
        </p:txBody>
      </p:sp>
      <p:pic>
        <p:nvPicPr>
          <p:cNvPr id="5" name="Picture 7">
            <a:extLst>
              <a:ext uri="{FF2B5EF4-FFF2-40B4-BE49-F238E27FC236}">
                <a16:creationId xmlns:a16="http://schemas.microsoft.com/office/drawing/2014/main" id="{C0CEA542-D55D-2DCF-3814-1AD8B040F90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8485872" y="4281603"/>
            <a:ext cx="3411813" cy="2184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DFD10D04-D3F2-C566-BEF7-159A31093F20}"/>
              </a:ext>
            </a:extLst>
          </p:cNvPr>
          <p:cNvSpPr txBox="1"/>
          <p:nvPr/>
        </p:nvSpPr>
        <p:spPr>
          <a:xfrm>
            <a:off x="8501865" y="6447374"/>
            <a:ext cx="3396066" cy="307777"/>
          </a:xfrm>
          <a:prstGeom prst="rect">
            <a:avLst/>
          </a:prstGeom>
          <a:solidFill>
            <a:schemeClr val="tx1">
              <a:lumMod val="65000"/>
              <a:lumOff val="35000"/>
            </a:schemeClr>
          </a:solidFill>
          <a:ln>
            <a:noFill/>
          </a:ln>
        </p:spPr>
        <p:txBody>
          <a:bodyPr wrap="square">
            <a:spAutoFit/>
          </a:bodyPr>
          <a:lstStyle/>
          <a:p>
            <a:pPr eaLnBrk="1" hangingPunct="1">
              <a:defRPr/>
            </a:pPr>
            <a:r>
              <a:rPr lang="en-US" sz="1400">
                <a:solidFill>
                  <a:schemeClr val="bg1"/>
                </a:solidFill>
              </a:rPr>
              <a:t>Large-Scale Model with Rain Gauges</a:t>
            </a:r>
          </a:p>
        </p:txBody>
      </p:sp>
      <p:pic>
        <p:nvPicPr>
          <p:cNvPr id="11" name="Picture 10">
            <a:extLst>
              <a:ext uri="{FF2B5EF4-FFF2-40B4-BE49-F238E27FC236}">
                <a16:creationId xmlns:a16="http://schemas.microsoft.com/office/drawing/2014/main" id="{80D4B80D-D292-3911-D036-757FE92EB932}"/>
              </a:ext>
            </a:extLst>
          </p:cNvPr>
          <p:cNvPicPr/>
          <p:nvPr/>
        </p:nvPicPr>
        <p:blipFill>
          <a:blip r:embed="rId5" cstate="print"/>
          <a:srcRect/>
          <a:stretch>
            <a:fillRect/>
          </a:stretch>
        </p:blipFill>
        <p:spPr bwMode="auto">
          <a:xfrm>
            <a:off x="8501865" y="1449113"/>
            <a:ext cx="3396066" cy="2172369"/>
          </a:xfrm>
          <a:prstGeom prst="rect">
            <a:avLst/>
          </a:prstGeom>
          <a:noFill/>
          <a:ln w="9525">
            <a:noFill/>
            <a:miter lim="800000"/>
            <a:headEnd/>
            <a:tailEnd/>
          </a:ln>
          <a:effectLst/>
        </p:spPr>
      </p:pic>
    </p:spTree>
    <p:extLst>
      <p:ext uri="{BB962C8B-B14F-4D97-AF65-F5344CB8AC3E}">
        <p14:creationId xmlns:p14="http://schemas.microsoft.com/office/powerpoint/2010/main" val="4285297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534052-35D7-CF45-D0CB-930BE951A10B}"/>
              </a:ext>
            </a:extLst>
          </p:cNvPr>
          <p:cNvSpPr txBox="1"/>
          <p:nvPr/>
        </p:nvSpPr>
        <p:spPr>
          <a:xfrm>
            <a:off x="443883" y="1127464"/>
            <a:ext cx="11443316" cy="4524315"/>
          </a:xfrm>
          <a:prstGeom prst="rect">
            <a:avLst/>
          </a:prstGeom>
          <a:noFill/>
        </p:spPr>
        <p:txBody>
          <a:bodyPr wrap="square" rtlCol="0">
            <a:spAutoFit/>
          </a:bodyPr>
          <a:lstStyle/>
          <a:p>
            <a:pPr algn="just"/>
            <a:endParaRPr lang="en-US" sz="2400" b="1" dirty="0">
              <a:latin typeface="Arial" panose="020B0604020202020204" pitchFamily="34" charset="0"/>
              <a:ea typeface="Aptos" panose="020B0004020202020204" pitchFamily="34" charset="0"/>
              <a:cs typeface="Arial" panose="020B0604020202020204" pitchFamily="34" charset="0"/>
            </a:endParaRPr>
          </a:p>
          <a:p>
            <a:pPr marL="342900" indent="-342900" algn="just">
              <a:buFont typeface="Arial" panose="020B0604020202020204" pitchFamily="34" charset="0"/>
              <a:buChar char="•"/>
            </a:pPr>
            <a:r>
              <a:rPr kumimoji="0" lang="en-US" altLang="en-US" sz="2400" b="0" i="0" u="none" strike="noStrike" cap="none" normalizeH="0" baseline="0" dirty="0">
                <a:ln>
                  <a:noFill/>
                </a:ln>
                <a:solidFill>
                  <a:schemeClr val="tx1"/>
                </a:solidFill>
                <a:effectLst/>
                <a:latin typeface="Arial" panose="020B0604020202020204" pitchFamily="34" charset="0"/>
              </a:rPr>
              <a:t>Using analytical and empirical techniques, as well as previous research conducted by </a:t>
            </a:r>
            <a:r>
              <a:rPr kumimoji="0" lang="en-US" altLang="en-US" sz="2400" b="1" i="0" u="none" strike="noStrike" cap="none" normalizeH="0" baseline="0" dirty="0">
                <a:ln>
                  <a:noFill/>
                </a:ln>
                <a:solidFill>
                  <a:schemeClr val="tx1"/>
                </a:solidFill>
                <a:effectLst/>
                <a:latin typeface="Arial" panose="020B0604020202020204" pitchFamily="34" charset="0"/>
              </a:rPr>
              <a:t>Chowdhury et al.</a:t>
            </a:r>
            <a:r>
              <a:rPr kumimoji="0" lang="en-US" altLang="en-US" sz="2400" b="0" i="0" u="none" strike="noStrike" cap="none" normalizeH="0" baseline="0" dirty="0">
                <a:ln>
                  <a:noFill/>
                </a:ln>
                <a:solidFill>
                  <a:schemeClr val="tx1"/>
                </a:solidFill>
                <a:effectLst/>
                <a:latin typeface="Arial" panose="020B0604020202020204" pitchFamily="34" charset="0"/>
              </a:rPr>
              <a:t> at FIU, the study attempts to evaluate wind-driven water intrusion via sliding glass doors in residential mid-rise structures. </a:t>
            </a:r>
          </a:p>
          <a:p>
            <a:pPr marL="342900" indent="-342900" algn="just">
              <a:buFont typeface="Arial" panose="020B0604020202020204" pitchFamily="34" charset="0"/>
              <a:buChar char="•"/>
            </a:pPr>
            <a:endParaRPr lang="en-US" altLang="en-US" sz="2400" dirty="0">
              <a:latin typeface="Arial" panose="020B0604020202020204" pitchFamily="34" charset="0"/>
            </a:endParaRPr>
          </a:p>
          <a:p>
            <a:pPr marL="342900" indent="-342900" algn="just">
              <a:buFont typeface="Arial" panose="020B0604020202020204" pitchFamily="34" charset="0"/>
              <a:buChar char="•"/>
            </a:pPr>
            <a:r>
              <a:rPr kumimoji="0" lang="en-US" altLang="en-US" sz="2400" b="0" i="0" u="none" strike="noStrike" cap="none" normalizeH="0" baseline="0" dirty="0">
                <a:ln>
                  <a:noFill/>
                </a:ln>
                <a:solidFill>
                  <a:schemeClr val="tx1"/>
                </a:solidFill>
                <a:effectLst/>
                <a:latin typeface="Arial" panose="020B0604020202020204" pitchFamily="34" charset="0"/>
              </a:rPr>
              <a:t>Testing is conducted by Florida Building Code requirements, such as TAS 201, 202, and 203, which gauge door performance, impact resistance, and water penetration during hurricane circumstances. </a:t>
            </a:r>
          </a:p>
          <a:p>
            <a:pPr marL="342900" indent="-342900" algn="just">
              <a:buFont typeface="Arial" panose="020B0604020202020204" pitchFamily="34" charset="0"/>
              <a:buChar char="•"/>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indent="-342900" algn="just">
              <a:buFont typeface="Arial" panose="020B0604020202020204" pitchFamily="34" charset="0"/>
              <a:buChar char="•"/>
            </a:pPr>
            <a:r>
              <a:rPr kumimoji="0" lang="en-US" altLang="en-US" sz="2400" b="0" i="0" u="none" strike="noStrike" cap="none" normalizeH="0" baseline="0" dirty="0">
                <a:ln>
                  <a:noFill/>
                </a:ln>
                <a:solidFill>
                  <a:schemeClr val="tx1"/>
                </a:solidFill>
                <a:effectLst/>
                <a:latin typeface="Arial" panose="020B0604020202020204" pitchFamily="34" charset="0"/>
              </a:rPr>
              <a:t>However, since they depend on static pressure and ignore the dynamic forces of wind and rain during a hurricane, existing testing methods—particularly TAS 202—are insufficient for assessing real-world water resistance.</a:t>
            </a:r>
            <a:endParaRPr lang="en-US" sz="2400" dirty="0">
              <a:effectLst/>
              <a:latin typeface="Arial" panose="020B0604020202020204" pitchFamily="34" charset="0"/>
              <a:ea typeface="Aptos" panose="020B00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62C2CBFF-5F8F-294D-0816-0535EB8B82B7}"/>
              </a:ext>
            </a:extLst>
          </p:cNvPr>
          <p:cNvSpPr/>
          <p:nvPr/>
        </p:nvSpPr>
        <p:spPr>
          <a:xfrm>
            <a:off x="0" y="-6350"/>
            <a:ext cx="12192000" cy="806450"/>
          </a:xfrm>
          <a:prstGeom prst="rect">
            <a:avLst/>
          </a:prstGeom>
          <a:solidFill>
            <a:srgbClr val="081E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just">
              <a:spcBef>
                <a:spcPts val="0"/>
              </a:spcBef>
              <a:spcAft>
                <a:spcPts val="0"/>
              </a:spcAft>
              <a:tabLst>
                <a:tab pos="2971800" algn="ctr"/>
                <a:tab pos="5943600" algn="r"/>
                <a:tab pos="457200" algn="l"/>
              </a:tabLst>
            </a:pPr>
            <a:r>
              <a:rPr lang="en-US" sz="1100" b="1" cap="all">
                <a:solidFill>
                  <a:srgbClr val="FFFFFF"/>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10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426F7445-F67B-6EC9-F735-E570C01E80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64184" y="72946"/>
            <a:ext cx="2367806" cy="679263"/>
          </a:xfrm>
          <a:prstGeom prst="rect">
            <a:avLst/>
          </a:prstGeom>
        </p:spPr>
      </p:pic>
      <p:cxnSp>
        <p:nvCxnSpPr>
          <p:cNvPr id="8" name="Straight Connector 7">
            <a:extLst>
              <a:ext uri="{FF2B5EF4-FFF2-40B4-BE49-F238E27FC236}">
                <a16:creationId xmlns:a16="http://schemas.microsoft.com/office/drawing/2014/main" id="{CF0094A6-713C-68B3-65D8-15CC99ECD673}"/>
              </a:ext>
            </a:extLst>
          </p:cNvPr>
          <p:cNvCxnSpPr/>
          <p:nvPr/>
        </p:nvCxnSpPr>
        <p:spPr>
          <a:xfrm>
            <a:off x="213064" y="6116715"/>
            <a:ext cx="11603115"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4CA02BA-70D0-078C-8A16-48960C28ACB6}"/>
              </a:ext>
            </a:extLst>
          </p:cNvPr>
          <p:cNvSpPr txBox="1"/>
          <p:nvPr/>
        </p:nvSpPr>
        <p:spPr>
          <a:xfrm>
            <a:off x="375821" y="6116715"/>
            <a:ext cx="11594236" cy="543547"/>
          </a:xfrm>
          <a:prstGeom prst="rect">
            <a:avLst/>
          </a:prstGeom>
          <a:noFill/>
        </p:spPr>
        <p:txBody>
          <a:bodyPr wrap="square">
            <a:spAutoFit/>
          </a:bodyPr>
          <a:lstStyle/>
          <a:p>
            <a:pPr marR="0" lvl="0" algn="just">
              <a:lnSpc>
                <a:spcPct val="107000"/>
              </a:lnSpc>
              <a:spcBef>
                <a:spcPts val="0"/>
              </a:spcBef>
              <a:spcAft>
                <a:spcPts val="0"/>
              </a:spcAft>
            </a:pPr>
            <a:r>
              <a:rPr lang="en-US" sz="1400" i="1" dirty="0">
                <a:effectLst/>
                <a:latin typeface="Arial" panose="020B0604020202020204" pitchFamily="34" charset="0"/>
                <a:ea typeface="TimesNewRoman"/>
                <a:cs typeface="Arial" panose="020B0604020202020204" pitchFamily="34" charset="0"/>
              </a:rPr>
              <a:t>Chowdhury, A. G., Erwin, J., &amp; </a:t>
            </a:r>
            <a:r>
              <a:rPr lang="en-US" sz="1400" i="1" dirty="0" err="1">
                <a:effectLst/>
                <a:latin typeface="Arial" panose="020B0604020202020204" pitchFamily="34" charset="0"/>
                <a:ea typeface="TimesNewRoman"/>
                <a:cs typeface="Arial" panose="020B0604020202020204" pitchFamily="34" charset="0"/>
              </a:rPr>
              <a:t>Vutukuru</a:t>
            </a:r>
            <a:r>
              <a:rPr lang="en-US" sz="1400" i="1" dirty="0">
                <a:effectLst/>
                <a:latin typeface="Arial" panose="020B0604020202020204" pitchFamily="34" charset="0"/>
                <a:ea typeface="TimesNewRoman"/>
                <a:cs typeface="Arial" panose="020B0604020202020204" pitchFamily="34" charset="0"/>
              </a:rPr>
              <a:t>, K. S. (2021). Quantification of wind driven rain (</a:t>
            </a:r>
            <a:r>
              <a:rPr lang="en-US" sz="1400" i="1" dirty="0" err="1">
                <a:effectLst/>
                <a:latin typeface="Arial" panose="020B0604020202020204" pitchFamily="34" charset="0"/>
                <a:ea typeface="TimesNewRoman"/>
                <a:cs typeface="Arial" panose="020B0604020202020204" pitchFamily="34" charset="0"/>
              </a:rPr>
              <a:t>wdr</a:t>
            </a:r>
            <a:r>
              <a:rPr lang="en-US" sz="1400" i="1" dirty="0">
                <a:effectLst/>
                <a:latin typeface="Arial" panose="020B0604020202020204" pitchFamily="34" charset="0"/>
                <a:ea typeface="TimesNewRoman"/>
                <a:cs typeface="Arial" panose="020B0604020202020204" pitchFamily="34" charset="0"/>
              </a:rPr>
              <a:t>) intrusion through shuttered sliding glass door systems final report. </a:t>
            </a:r>
            <a:r>
              <a:rPr lang="en-US" sz="1400" i="1" dirty="0">
                <a:effectLst/>
                <a:latin typeface="Arial" panose="020B0604020202020204" pitchFamily="34" charset="0"/>
                <a:ea typeface="TimesNewRoman"/>
                <a:cs typeface="Arial" panose="020B0604020202020204" pitchFamily="34" charset="0"/>
                <a:hlinkClick r:id="rId3"/>
              </a:rPr>
              <a:t>https://doi.org/10.13140/RG.2.2.36806.86081</a:t>
            </a:r>
            <a:r>
              <a:rPr lang="en-US" sz="1400" i="1" dirty="0">
                <a:effectLst/>
                <a:latin typeface="Arial" panose="020B0604020202020204" pitchFamily="34" charset="0"/>
                <a:ea typeface="TimesNewRoman"/>
                <a:cs typeface="Arial" panose="020B0604020202020204" pitchFamily="34" charset="0"/>
              </a:rPr>
              <a:t> </a:t>
            </a:r>
            <a:endParaRPr lang="en-US" sz="1400" i="1" dirty="0">
              <a:effectLst/>
              <a:latin typeface="Aptos" panose="020B0004020202020204" pitchFamily="34" charset="0"/>
              <a:ea typeface="Aptos" panose="020B0004020202020204" pitchFamily="34" charset="0"/>
              <a:cs typeface="Arial" panose="020B0604020202020204" pitchFamily="34" charset="0"/>
            </a:endParaRPr>
          </a:p>
        </p:txBody>
      </p:sp>
      <p:cxnSp>
        <p:nvCxnSpPr>
          <p:cNvPr id="11" name="Straight Connector 10">
            <a:extLst>
              <a:ext uri="{FF2B5EF4-FFF2-40B4-BE49-F238E27FC236}">
                <a16:creationId xmlns:a16="http://schemas.microsoft.com/office/drawing/2014/main" id="{D6FD8D64-5824-B3B7-E6F1-2DA8207DBCDD}"/>
              </a:ext>
            </a:extLst>
          </p:cNvPr>
          <p:cNvCxnSpPr/>
          <p:nvPr/>
        </p:nvCxnSpPr>
        <p:spPr bwMode="auto">
          <a:xfrm>
            <a:off x="-1" y="6830621"/>
            <a:ext cx="12192000" cy="0"/>
          </a:xfrm>
          <a:prstGeom prst="line">
            <a:avLst/>
          </a:prstGeom>
          <a:ln w="76200" cmpd="sng">
            <a:solidFill>
              <a:srgbClr val="000066"/>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C8E6920-5160-3D72-3022-E0C05F9B2018}"/>
              </a:ext>
            </a:extLst>
          </p:cNvPr>
          <p:cNvSpPr txBox="1"/>
          <p:nvPr/>
        </p:nvSpPr>
        <p:spPr>
          <a:xfrm>
            <a:off x="60010" y="121352"/>
            <a:ext cx="9928447" cy="58477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bg1"/>
                </a:solidFill>
                <a:effectLst/>
                <a:uLnTx/>
                <a:uFillTx/>
                <a:latin typeface="Calibri" panose="020F0502020204030204"/>
                <a:ea typeface="+mn-ea"/>
                <a:cs typeface="+mn-cs"/>
              </a:rPr>
              <a:t>Scope of Work</a:t>
            </a:r>
          </a:p>
        </p:txBody>
      </p:sp>
      <p:sp>
        <p:nvSpPr>
          <p:cNvPr id="13" name="TextBox 12">
            <a:extLst>
              <a:ext uri="{FF2B5EF4-FFF2-40B4-BE49-F238E27FC236}">
                <a16:creationId xmlns:a16="http://schemas.microsoft.com/office/drawing/2014/main" id="{B5129795-E911-CBA6-969F-138CDB5535A7}"/>
              </a:ext>
            </a:extLst>
          </p:cNvPr>
          <p:cNvSpPr txBox="1"/>
          <p:nvPr/>
        </p:nvSpPr>
        <p:spPr>
          <a:xfrm>
            <a:off x="11839235" y="6442649"/>
            <a:ext cx="352764" cy="369332"/>
          </a:xfrm>
          <a:prstGeom prst="rect">
            <a:avLst/>
          </a:prstGeom>
          <a:noFill/>
        </p:spPr>
        <p:txBody>
          <a:bodyPr wrap="square" rtlCol="0">
            <a:spAutoFit/>
          </a:bodyPr>
          <a:lstStyle/>
          <a:p>
            <a:r>
              <a:rPr lang="en-US" dirty="0"/>
              <a:t>8</a:t>
            </a:r>
          </a:p>
        </p:txBody>
      </p:sp>
    </p:spTree>
    <p:extLst>
      <p:ext uri="{BB962C8B-B14F-4D97-AF65-F5344CB8AC3E}">
        <p14:creationId xmlns:p14="http://schemas.microsoft.com/office/powerpoint/2010/main" val="1795672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BA215-0420-1EF7-A6EC-7C6E8E215B83}"/>
            </a:ext>
          </a:extLst>
        </p:cNvPr>
        <p:cNvGrpSpPr/>
        <p:nvPr/>
      </p:nvGrpSpPr>
      <p:grpSpPr>
        <a:xfrm>
          <a:off x="0" y="0"/>
          <a:ext cx="0" cy="0"/>
          <a:chOff x="0" y="0"/>
          <a:chExt cx="0" cy="0"/>
        </a:xfrm>
      </p:grpSpPr>
      <p:cxnSp>
        <p:nvCxnSpPr>
          <p:cNvPr id="75" name="Straight Connector 74">
            <a:extLst>
              <a:ext uri="{FF2B5EF4-FFF2-40B4-BE49-F238E27FC236}">
                <a16:creationId xmlns:a16="http://schemas.microsoft.com/office/drawing/2014/main" id="{27EB111E-9FB9-1607-F95D-AF059C7B414B}"/>
              </a:ext>
            </a:extLst>
          </p:cNvPr>
          <p:cNvCxnSpPr/>
          <p:nvPr/>
        </p:nvCxnSpPr>
        <p:spPr bwMode="auto">
          <a:xfrm>
            <a:off x="-1" y="6830621"/>
            <a:ext cx="12192000" cy="0"/>
          </a:xfrm>
          <a:prstGeom prst="line">
            <a:avLst/>
          </a:prstGeom>
          <a:ln w="76200" cmpd="sng">
            <a:solidFill>
              <a:srgbClr val="000066"/>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C67F2F20-9ABF-9490-EB26-2F18C74DA421}"/>
              </a:ext>
            </a:extLst>
          </p:cNvPr>
          <p:cNvSpPr txBox="1"/>
          <p:nvPr/>
        </p:nvSpPr>
        <p:spPr>
          <a:xfrm>
            <a:off x="11839235" y="6442649"/>
            <a:ext cx="352764" cy="369332"/>
          </a:xfrm>
          <a:prstGeom prst="rect">
            <a:avLst/>
          </a:prstGeom>
          <a:noFill/>
        </p:spPr>
        <p:txBody>
          <a:bodyPr wrap="square" rtlCol="0">
            <a:spAutoFit/>
          </a:bodyPr>
          <a:lstStyle/>
          <a:p>
            <a:r>
              <a:rPr lang="en-US" dirty="0"/>
              <a:t>9</a:t>
            </a:r>
          </a:p>
        </p:txBody>
      </p:sp>
      <p:sp>
        <p:nvSpPr>
          <p:cNvPr id="6" name="Rectangle 5">
            <a:extLst>
              <a:ext uri="{FF2B5EF4-FFF2-40B4-BE49-F238E27FC236}">
                <a16:creationId xmlns:a16="http://schemas.microsoft.com/office/drawing/2014/main" id="{AF1F073E-799B-F854-5EC1-CBECFF3C25FE}"/>
              </a:ext>
            </a:extLst>
          </p:cNvPr>
          <p:cNvSpPr/>
          <p:nvPr/>
        </p:nvSpPr>
        <p:spPr>
          <a:xfrm>
            <a:off x="0" y="-6350"/>
            <a:ext cx="12192000" cy="806450"/>
          </a:xfrm>
          <a:prstGeom prst="rect">
            <a:avLst/>
          </a:prstGeom>
          <a:solidFill>
            <a:srgbClr val="081E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just">
              <a:spcBef>
                <a:spcPts val="0"/>
              </a:spcBef>
              <a:spcAft>
                <a:spcPts val="0"/>
              </a:spcAft>
              <a:tabLst>
                <a:tab pos="2971800" algn="ctr"/>
                <a:tab pos="5943600" algn="r"/>
                <a:tab pos="457200" algn="l"/>
              </a:tabLst>
            </a:pPr>
            <a:r>
              <a:rPr lang="en-US" sz="1100" b="1" cap="all">
                <a:solidFill>
                  <a:srgbClr val="FFFFFF"/>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10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F7AD12B4-BF2D-C2C7-937F-5922C97F32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4184" y="72946"/>
            <a:ext cx="2367806" cy="679263"/>
          </a:xfrm>
          <a:prstGeom prst="rect">
            <a:avLst/>
          </a:prstGeom>
        </p:spPr>
      </p:pic>
      <p:sp>
        <p:nvSpPr>
          <p:cNvPr id="8" name="TextBox 7">
            <a:extLst>
              <a:ext uri="{FF2B5EF4-FFF2-40B4-BE49-F238E27FC236}">
                <a16:creationId xmlns:a16="http://schemas.microsoft.com/office/drawing/2014/main" id="{A1A9B45B-948A-BAB2-6A7C-5CF8EE2372FB}"/>
              </a:ext>
            </a:extLst>
          </p:cNvPr>
          <p:cNvSpPr txBox="1"/>
          <p:nvPr/>
        </p:nvSpPr>
        <p:spPr>
          <a:xfrm>
            <a:off x="60010" y="121352"/>
            <a:ext cx="9928447" cy="58477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bg1"/>
                </a:solidFill>
                <a:effectLst/>
                <a:uLnTx/>
                <a:uFillTx/>
                <a:latin typeface="Calibri" panose="020F0502020204030204"/>
                <a:ea typeface="+mn-ea"/>
                <a:cs typeface="+mn-cs"/>
              </a:rPr>
              <a:t>Methodology</a:t>
            </a:r>
          </a:p>
        </p:txBody>
      </p:sp>
      <p:sp>
        <p:nvSpPr>
          <p:cNvPr id="2" name="TextBox 1">
            <a:extLst>
              <a:ext uri="{FF2B5EF4-FFF2-40B4-BE49-F238E27FC236}">
                <a16:creationId xmlns:a16="http://schemas.microsoft.com/office/drawing/2014/main" id="{8742A0A8-E498-1386-0031-04A9F4C70CDF}"/>
              </a:ext>
            </a:extLst>
          </p:cNvPr>
          <p:cNvSpPr txBox="1"/>
          <p:nvPr/>
        </p:nvSpPr>
        <p:spPr>
          <a:xfrm>
            <a:off x="191895" y="907253"/>
            <a:ext cx="9265467" cy="523220"/>
          </a:xfrm>
          <a:prstGeom prst="rect">
            <a:avLst/>
          </a:prstGeom>
          <a:noFill/>
        </p:spPr>
        <p:txBody>
          <a:bodyPr wrap="square" rtlCol="0">
            <a:spAutoFit/>
          </a:bodyPr>
          <a:lstStyle/>
          <a:p>
            <a:r>
              <a:rPr lang="en-US" sz="2800" b="1" dirty="0">
                <a:solidFill>
                  <a:srgbClr val="0F1C7B"/>
                </a:solidFill>
              </a:rPr>
              <a:t>Task 3: Formulate Recommendations </a:t>
            </a:r>
          </a:p>
        </p:txBody>
      </p:sp>
      <p:sp>
        <p:nvSpPr>
          <p:cNvPr id="3" name="TextBox 2">
            <a:extLst>
              <a:ext uri="{FF2B5EF4-FFF2-40B4-BE49-F238E27FC236}">
                <a16:creationId xmlns:a16="http://schemas.microsoft.com/office/drawing/2014/main" id="{56471D72-61EF-70A9-5790-5F55752DBD1B}"/>
              </a:ext>
            </a:extLst>
          </p:cNvPr>
          <p:cNvSpPr txBox="1"/>
          <p:nvPr/>
        </p:nvSpPr>
        <p:spPr>
          <a:xfrm>
            <a:off x="202169" y="1713288"/>
            <a:ext cx="5666989" cy="4651979"/>
          </a:xfrm>
          <a:prstGeom prst="rect">
            <a:avLst/>
          </a:prstGeom>
          <a:noFill/>
        </p:spPr>
        <p:txBody>
          <a:bodyPr wrap="square">
            <a:spAutoFit/>
          </a:bodyPr>
          <a:lstStyle/>
          <a:p>
            <a:pPr marL="342900" indent="-342900" algn="just" defTabSz="457200">
              <a:lnSpc>
                <a:spcPct val="150000"/>
              </a:lnSpc>
              <a:spcBef>
                <a:spcPts val="1200"/>
              </a:spcBef>
              <a:buFont typeface="Arial" panose="020B0604020202020204" pitchFamily="34" charset="0"/>
              <a:buChar char="•"/>
            </a:pPr>
            <a:r>
              <a:rPr lang="en-US" sz="2000" dirty="0">
                <a:latin typeface="Arial" panose="020B0604020202020204" pitchFamily="34" charset="0"/>
                <a:cs typeface="Arial" panose="020B0604020202020204" pitchFamily="34" charset="0"/>
              </a:rPr>
              <a:t>In collaboration with the TAC and based on the literature review conducted under Item b, FIU-CEE shall develop recommendations regarding the applicability of the existing industry standards in testing WDR intrusion through tracks of sliding glass doors and evaluation of efficiency of mitigation devices and determine whether modifications and/or new protocols are needed for improved testing and evaluation.</a:t>
            </a:r>
          </a:p>
        </p:txBody>
      </p:sp>
      <p:pic>
        <p:nvPicPr>
          <p:cNvPr id="4" name="Picture 3">
            <a:extLst>
              <a:ext uri="{FF2B5EF4-FFF2-40B4-BE49-F238E27FC236}">
                <a16:creationId xmlns:a16="http://schemas.microsoft.com/office/drawing/2014/main" id="{6E2E8AFC-8B62-E3C7-360A-BEB28700C0B8}"/>
              </a:ext>
            </a:extLst>
          </p:cNvPr>
          <p:cNvPicPr>
            <a:picLocks noChangeAspect="1"/>
          </p:cNvPicPr>
          <p:nvPr/>
        </p:nvPicPr>
        <p:blipFill>
          <a:blip r:embed="rId4"/>
          <a:stretch>
            <a:fillRect/>
          </a:stretch>
        </p:blipFill>
        <p:spPr>
          <a:xfrm>
            <a:off x="5953874" y="1878307"/>
            <a:ext cx="6238125" cy="4264035"/>
          </a:xfrm>
          <a:prstGeom prst="rect">
            <a:avLst/>
          </a:prstGeom>
        </p:spPr>
      </p:pic>
    </p:spTree>
    <p:extLst>
      <p:ext uri="{BB962C8B-B14F-4D97-AF65-F5344CB8AC3E}">
        <p14:creationId xmlns:p14="http://schemas.microsoft.com/office/powerpoint/2010/main" val="416746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BA215-0420-1EF7-A6EC-7C6E8E215B83}"/>
            </a:ext>
          </a:extLst>
        </p:cNvPr>
        <p:cNvGrpSpPr/>
        <p:nvPr/>
      </p:nvGrpSpPr>
      <p:grpSpPr>
        <a:xfrm>
          <a:off x="0" y="0"/>
          <a:ext cx="0" cy="0"/>
          <a:chOff x="0" y="0"/>
          <a:chExt cx="0" cy="0"/>
        </a:xfrm>
      </p:grpSpPr>
      <p:cxnSp>
        <p:nvCxnSpPr>
          <p:cNvPr id="75" name="Straight Connector 74">
            <a:extLst>
              <a:ext uri="{FF2B5EF4-FFF2-40B4-BE49-F238E27FC236}">
                <a16:creationId xmlns:a16="http://schemas.microsoft.com/office/drawing/2014/main" id="{27EB111E-9FB9-1607-F95D-AF059C7B414B}"/>
              </a:ext>
            </a:extLst>
          </p:cNvPr>
          <p:cNvCxnSpPr/>
          <p:nvPr/>
        </p:nvCxnSpPr>
        <p:spPr bwMode="auto">
          <a:xfrm>
            <a:off x="-1" y="6830621"/>
            <a:ext cx="12192000" cy="0"/>
          </a:xfrm>
          <a:prstGeom prst="line">
            <a:avLst/>
          </a:prstGeom>
          <a:ln w="76200" cmpd="sng">
            <a:solidFill>
              <a:srgbClr val="000066"/>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C67F2F20-9ABF-9490-EB26-2F18C74DA421}"/>
              </a:ext>
            </a:extLst>
          </p:cNvPr>
          <p:cNvSpPr txBox="1"/>
          <p:nvPr/>
        </p:nvSpPr>
        <p:spPr>
          <a:xfrm>
            <a:off x="11700769" y="6442649"/>
            <a:ext cx="491230" cy="369332"/>
          </a:xfrm>
          <a:prstGeom prst="rect">
            <a:avLst/>
          </a:prstGeom>
          <a:noFill/>
        </p:spPr>
        <p:txBody>
          <a:bodyPr wrap="square" rtlCol="0">
            <a:spAutoFit/>
          </a:bodyPr>
          <a:lstStyle/>
          <a:p>
            <a:r>
              <a:rPr lang="en-US" dirty="0"/>
              <a:t>10</a:t>
            </a:r>
          </a:p>
        </p:txBody>
      </p:sp>
      <p:sp>
        <p:nvSpPr>
          <p:cNvPr id="6" name="Rectangle 5">
            <a:extLst>
              <a:ext uri="{FF2B5EF4-FFF2-40B4-BE49-F238E27FC236}">
                <a16:creationId xmlns:a16="http://schemas.microsoft.com/office/drawing/2014/main" id="{AF1F073E-799B-F854-5EC1-CBECFF3C25FE}"/>
              </a:ext>
            </a:extLst>
          </p:cNvPr>
          <p:cNvSpPr/>
          <p:nvPr/>
        </p:nvSpPr>
        <p:spPr>
          <a:xfrm>
            <a:off x="0" y="-6350"/>
            <a:ext cx="12192000" cy="806450"/>
          </a:xfrm>
          <a:prstGeom prst="rect">
            <a:avLst/>
          </a:prstGeom>
          <a:solidFill>
            <a:srgbClr val="081E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just">
              <a:spcBef>
                <a:spcPts val="0"/>
              </a:spcBef>
              <a:spcAft>
                <a:spcPts val="0"/>
              </a:spcAft>
              <a:tabLst>
                <a:tab pos="2971800" algn="ctr"/>
                <a:tab pos="5943600" algn="r"/>
                <a:tab pos="457200" algn="l"/>
              </a:tabLst>
            </a:pPr>
            <a:r>
              <a:rPr lang="en-US" sz="1100" b="1" cap="all">
                <a:solidFill>
                  <a:srgbClr val="FFFFFF"/>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10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F7AD12B4-BF2D-C2C7-937F-5922C97F32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4184" y="72946"/>
            <a:ext cx="2367806" cy="679263"/>
          </a:xfrm>
          <a:prstGeom prst="rect">
            <a:avLst/>
          </a:prstGeom>
        </p:spPr>
      </p:pic>
      <p:sp>
        <p:nvSpPr>
          <p:cNvPr id="8" name="TextBox 7">
            <a:extLst>
              <a:ext uri="{FF2B5EF4-FFF2-40B4-BE49-F238E27FC236}">
                <a16:creationId xmlns:a16="http://schemas.microsoft.com/office/drawing/2014/main" id="{A1A9B45B-948A-BAB2-6A7C-5CF8EE2372FB}"/>
              </a:ext>
            </a:extLst>
          </p:cNvPr>
          <p:cNvSpPr txBox="1"/>
          <p:nvPr/>
        </p:nvSpPr>
        <p:spPr>
          <a:xfrm>
            <a:off x="60010" y="121352"/>
            <a:ext cx="9928447" cy="58477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bg1"/>
                </a:solidFill>
                <a:effectLst/>
                <a:uLnTx/>
                <a:uFillTx/>
                <a:latin typeface="Calibri" panose="020F0502020204030204"/>
                <a:ea typeface="+mn-ea"/>
                <a:cs typeface="+mn-cs"/>
              </a:rPr>
              <a:t>Methodology</a:t>
            </a:r>
          </a:p>
        </p:txBody>
      </p:sp>
      <p:sp>
        <p:nvSpPr>
          <p:cNvPr id="2" name="TextBox 1">
            <a:extLst>
              <a:ext uri="{FF2B5EF4-FFF2-40B4-BE49-F238E27FC236}">
                <a16:creationId xmlns:a16="http://schemas.microsoft.com/office/drawing/2014/main" id="{8742A0A8-E498-1386-0031-04A9F4C70CDF}"/>
              </a:ext>
            </a:extLst>
          </p:cNvPr>
          <p:cNvSpPr txBox="1"/>
          <p:nvPr/>
        </p:nvSpPr>
        <p:spPr>
          <a:xfrm>
            <a:off x="191895" y="907253"/>
            <a:ext cx="9265467" cy="523220"/>
          </a:xfrm>
          <a:prstGeom prst="rect">
            <a:avLst/>
          </a:prstGeom>
          <a:noFill/>
        </p:spPr>
        <p:txBody>
          <a:bodyPr wrap="square" rtlCol="0">
            <a:spAutoFit/>
          </a:bodyPr>
          <a:lstStyle/>
          <a:p>
            <a:r>
              <a:rPr lang="en-US" sz="2800" b="1" dirty="0">
                <a:solidFill>
                  <a:srgbClr val="0F1C7B"/>
                </a:solidFill>
              </a:rPr>
              <a:t>Expert Consultant</a:t>
            </a:r>
          </a:p>
        </p:txBody>
      </p:sp>
      <p:sp>
        <p:nvSpPr>
          <p:cNvPr id="3" name="TextBox 2">
            <a:extLst>
              <a:ext uri="{FF2B5EF4-FFF2-40B4-BE49-F238E27FC236}">
                <a16:creationId xmlns:a16="http://schemas.microsoft.com/office/drawing/2014/main" id="{56471D72-61EF-70A9-5790-5F55752DBD1B}"/>
              </a:ext>
            </a:extLst>
          </p:cNvPr>
          <p:cNvSpPr txBox="1"/>
          <p:nvPr/>
        </p:nvSpPr>
        <p:spPr>
          <a:xfrm>
            <a:off x="191895" y="1537626"/>
            <a:ext cx="11757878" cy="4651979"/>
          </a:xfrm>
          <a:prstGeom prst="rect">
            <a:avLst/>
          </a:prstGeom>
          <a:noFill/>
        </p:spPr>
        <p:txBody>
          <a:bodyPr wrap="square">
            <a:spAutoFit/>
          </a:bodyPr>
          <a:lstStyle/>
          <a:p>
            <a:pPr marL="342900" indent="-342900" algn="just" defTabSz="457200">
              <a:lnSpc>
                <a:spcPct val="150000"/>
              </a:lnSpc>
              <a:spcBef>
                <a:spcPts val="1200"/>
              </a:spcBef>
              <a:buFont typeface="Arial" panose="020B0604020202020204" pitchFamily="34" charset="0"/>
              <a:buChar char="•"/>
            </a:pPr>
            <a:r>
              <a:rPr lang="en-US" sz="2000" dirty="0">
                <a:latin typeface="Arial" panose="020B0604020202020204" pitchFamily="34" charset="0"/>
                <a:cs typeface="Arial" panose="020B0604020202020204" pitchFamily="34" charset="0"/>
              </a:rPr>
              <a:t>FIU - CEE shall consult with the University of Florida and Dr. </a:t>
            </a:r>
            <a:r>
              <a:rPr lang="en-US" sz="2000" dirty="0" err="1">
                <a:latin typeface="Arial" panose="020B0604020202020204" pitchFamily="34" charset="0"/>
                <a:cs typeface="Arial" panose="020B0604020202020204" pitchFamily="34" charset="0"/>
              </a:rPr>
              <a:t>Catarelli</a:t>
            </a:r>
            <a:r>
              <a:rPr lang="en-US" sz="2000" dirty="0">
                <a:latin typeface="Arial" panose="020B0604020202020204" pitchFamily="34" charset="0"/>
                <a:cs typeface="Arial" panose="020B0604020202020204" pitchFamily="34" charset="0"/>
              </a:rPr>
              <a:t> shall serve as a consultant over the life of this project. </a:t>
            </a:r>
          </a:p>
          <a:p>
            <a:pPr marL="342900" indent="-342900" algn="just" defTabSz="457200">
              <a:lnSpc>
                <a:spcPct val="150000"/>
              </a:lnSpc>
              <a:spcBef>
                <a:spcPts val="1200"/>
              </a:spcBef>
              <a:buFont typeface="Arial" panose="020B0604020202020204" pitchFamily="34" charset="0"/>
              <a:buChar char="•"/>
            </a:pPr>
            <a:r>
              <a:rPr lang="en-US" sz="2000" dirty="0">
                <a:latin typeface="Arial" panose="020B0604020202020204" pitchFamily="34" charset="0"/>
                <a:cs typeface="Arial" panose="020B0604020202020204" pitchFamily="34" charset="0"/>
              </a:rPr>
              <a:t>The University of Florida consultant will assist in the standards review based on the previous testing to the sliding glass doors conducted at the Powell Family Structures and Materials Laboratory at University of Florida. </a:t>
            </a:r>
          </a:p>
          <a:p>
            <a:pPr marL="342900" indent="-342900" algn="just" defTabSz="457200">
              <a:lnSpc>
                <a:spcPct val="150000"/>
              </a:lnSpc>
              <a:spcBef>
                <a:spcPts val="1200"/>
              </a:spcBef>
              <a:buFont typeface="Arial" panose="020B0604020202020204" pitchFamily="34" charset="0"/>
              <a:buChar char="•"/>
            </a:pPr>
            <a:r>
              <a:rPr lang="en-US" sz="2000" dirty="0">
                <a:latin typeface="Arial" panose="020B0604020202020204" pitchFamily="34" charset="0"/>
                <a:cs typeface="Arial" panose="020B0604020202020204" pitchFamily="34" charset="0"/>
              </a:rPr>
              <a:t>Dr. </a:t>
            </a:r>
            <a:r>
              <a:rPr lang="en-US" sz="2000" dirty="0" err="1">
                <a:latin typeface="Arial" panose="020B0604020202020204" pitchFamily="34" charset="0"/>
                <a:cs typeface="Arial" panose="020B0604020202020204" pitchFamily="34" charset="0"/>
              </a:rPr>
              <a:t>Catarelli</a:t>
            </a:r>
            <a:r>
              <a:rPr lang="en-US" sz="2000" dirty="0">
                <a:latin typeface="Arial" panose="020B0604020202020204" pitchFamily="34" charset="0"/>
                <a:cs typeface="Arial" panose="020B0604020202020204" pitchFamily="34" charset="0"/>
              </a:rPr>
              <a:t> will also help in the forming of TAC.</a:t>
            </a:r>
          </a:p>
          <a:p>
            <a:pPr marL="342900" indent="-342900" algn="just">
              <a:lnSpc>
                <a:spcPct val="150000"/>
              </a:lnSpc>
              <a:spcBef>
                <a:spcPts val="1200"/>
              </a:spcBef>
              <a:buFont typeface="Arial" panose="020B0604020202020204" pitchFamily="34" charset="0"/>
              <a:buChar char="•"/>
            </a:pPr>
            <a:r>
              <a:rPr lang="en-US" sz="2000" dirty="0">
                <a:solidFill>
                  <a:srgbClr val="000000"/>
                </a:solidFill>
                <a:effectLst/>
                <a:latin typeface="Arial" panose="020B0604020202020204" pitchFamily="34" charset="0"/>
                <a:ea typeface="Aptos" panose="020B0004020202020204" pitchFamily="34" charset="0"/>
                <a:cs typeface="Arial" panose="020B0604020202020204" pitchFamily="34" charset="0"/>
              </a:rPr>
              <a:t>The team will continue to meet with the TAC for at least another 4 meetings over the course of the next two months to track the progress of the literature review. The focus will be on reviewing the current standards and the reports recommended by the TAC.</a:t>
            </a:r>
            <a:endParaRPr lang="en-US" sz="20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022518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5B04F-42E4-6CE0-5CC1-9DF5B26CBA33}"/>
            </a:ext>
          </a:extLst>
        </p:cNvPr>
        <p:cNvGrpSpPr/>
        <p:nvPr/>
      </p:nvGrpSpPr>
      <p:grpSpPr>
        <a:xfrm>
          <a:off x="0" y="0"/>
          <a:ext cx="0" cy="0"/>
          <a:chOff x="0" y="0"/>
          <a:chExt cx="0" cy="0"/>
        </a:xfrm>
      </p:grpSpPr>
      <p:cxnSp>
        <p:nvCxnSpPr>
          <p:cNvPr id="75" name="Straight Connector 74">
            <a:extLst>
              <a:ext uri="{FF2B5EF4-FFF2-40B4-BE49-F238E27FC236}">
                <a16:creationId xmlns:a16="http://schemas.microsoft.com/office/drawing/2014/main" id="{47711AB4-4A03-1405-D01B-D4BAC67B65AF}"/>
              </a:ext>
            </a:extLst>
          </p:cNvPr>
          <p:cNvCxnSpPr/>
          <p:nvPr/>
        </p:nvCxnSpPr>
        <p:spPr bwMode="auto">
          <a:xfrm>
            <a:off x="0" y="6811981"/>
            <a:ext cx="12192000" cy="0"/>
          </a:xfrm>
          <a:prstGeom prst="line">
            <a:avLst/>
          </a:prstGeom>
          <a:ln w="76200" cmpd="sng">
            <a:solidFill>
              <a:srgbClr val="000066"/>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473FC7B0-B0BF-0303-91B9-B3D935E8B5D1}"/>
              </a:ext>
            </a:extLst>
          </p:cNvPr>
          <p:cNvSpPr txBox="1"/>
          <p:nvPr/>
        </p:nvSpPr>
        <p:spPr>
          <a:xfrm>
            <a:off x="11709400" y="6442649"/>
            <a:ext cx="482599" cy="369332"/>
          </a:xfrm>
          <a:prstGeom prst="rect">
            <a:avLst/>
          </a:prstGeom>
          <a:noFill/>
        </p:spPr>
        <p:txBody>
          <a:bodyPr wrap="square" rtlCol="0">
            <a:spAutoFit/>
          </a:bodyPr>
          <a:lstStyle/>
          <a:p>
            <a:r>
              <a:rPr lang="en-US" dirty="0"/>
              <a:t>11</a:t>
            </a:r>
          </a:p>
        </p:txBody>
      </p:sp>
      <p:sp>
        <p:nvSpPr>
          <p:cNvPr id="5" name="Rectangle 4">
            <a:extLst>
              <a:ext uri="{FF2B5EF4-FFF2-40B4-BE49-F238E27FC236}">
                <a16:creationId xmlns:a16="http://schemas.microsoft.com/office/drawing/2014/main" id="{3B7E1FB1-1172-744F-6550-8E017919BF31}"/>
              </a:ext>
            </a:extLst>
          </p:cNvPr>
          <p:cNvSpPr/>
          <p:nvPr/>
        </p:nvSpPr>
        <p:spPr>
          <a:xfrm>
            <a:off x="0" y="-6350"/>
            <a:ext cx="12192000" cy="806450"/>
          </a:xfrm>
          <a:prstGeom prst="rect">
            <a:avLst/>
          </a:prstGeom>
          <a:solidFill>
            <a:srgbClr val="081E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just">
              <a:spcBef>
                <a:spcPts val="0"/>
              </a:spcBef>
              <a:spcAft>
                <a:spcPts val="0"/>
              </a:spcAft>
              <a:tabLst>
                <a:tab pos="2971800" algn="ctr"/>
                <a:tab pos="5943600" algn="r"/>
                <a:tab pos="457200" algn="l"/>
              </a:tabLst>
            </a:pPr>
            <a:r>
              <a:rPr lang="en-US" sz="1100" b="1" cap="all">
                <a:solidFill>
                  <a:srgbClr val="FFFFFF"/>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10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068980B2-2DA0-BE48-1477-17EE33BFBD0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4184" y="72946"/>
            <a:ext cx="2367806" cy="679263"/>
          </a:xfrm>
          <a:prstGeom prst="rect">
            <a:avLst/>
          </a:prstGeom>
        </p:spPr>
      </p:pic>
      <p:sp>
        <p:nvSpPr>
          <p:cNvPr id="4" name="TextBox 3">
            <a:extLst>
              <a:ext uri="{FF2B5EF4-FFF2-40B4-BE49-F238E27FC236}">
                <a16:creationId xmlns:a16="http://schemas.microsoft.com/office/drawing/2014/main" id="{719FCF06-3E14-5A1D-3EAF-C5BF4A4D93F3}"/>
              </a:ext>
            </a:extLst>
          </p:cNvPr>
          <p:cNvSpPr txBox="1"/>
          <p:nvPr/>
        </p:nvSpPr>
        <p:spPr>
          <a:xfrm>
            <a:off x="60010" y="121352"/>
            <a:ext cx="9928447" cy="58477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bg1"/>
                </a:solidFill>
                <a:effectLst/>
                <a:uLnTx/>
                <a:uFillTx/>
                <a:latin typeface="Calibri" panose="020F0502020204030204"/>
                <a:ea typeface="+mn-ea"/>
                <a:cs typeface="+mn-cs"/>
              </a:rPr>
              <a:t>Budget</a:t>
            </a:r>
          </a:p>
        </p:txBody>
      </p:sp>
    </p:spTree>
    <p:extLst>
      <p:ext uri="{BB962C8B-B14F-4D97-AF65-F5344CB8AC3E}">
        <p14:creationId xmlns:p14="http://schemas.microsoft.com/office/powerpoint/2010/main" val="3410842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90BA5B-C951-1414-C235-B90B8ADC88FE}"/>
              </a:ext>
            </a:extLst>
          </p:cNvPr>
          <p:cNvSpPr txBox="1"/>
          <p:nvPr/>
        </p:nvSpPr>
        <p:spPr>
          <a:xfrm>
            <a:off x="252873" y="1331667"/>
            <a:ext cx="11526456" cy="4821513"/>
          </a:xfrm>
          <a:prstGeom prst="rect">
            <a:avLst/>
          </a:prstGeom>
          <a:noFill/>
        </p:spPr>
        <p:txBody>
          <a:bodyPr wrap="square">
            <a:spAutoFit/>
          </a:bodyPr>
          <a:lstStyle/>
          <a:p>
            <a:pPr marL="342900" marR="0" lvl="0" indent="-342900" algn="just">
              <a:lnSpc>
                <a:spcPct val="107000"/>
              </a:lnSpc>
              <a:spcBef>
                <a:spcPts val="0"/>
              </a:spcBef>
              <a:spcAft>
                <a:spcPts val="0"/>
              </a:spcAft>
              <a:buFont typeface="+mj-lt"/>
              <a:buAutoNum type="arabicPeriod"/>
            </a:pPr>
            <a:r>
              <a:rPr lang="en-US" sz="1800" dirty="0">
                <a:effectLst/>
                <a:latin typeface="Arial" panose="020B0604020202020204" pitchFamily="34" charset="0"/>
                <a:ea typeface="TimesNewRoman"/>
                <a:cs typeface="Arial" panose="020B0604020202020204" pitchFamily="34" charset="0"/>
              </a:rPr>
              <a:t>Chowdhury, A. G., Erwin, J., &amp; </a:t>
            </a:r>
            <a:r>
              <a:rPr lang="en-US" sz="1800" dirty="0" err="1">
                <a:effectLst/>
                <a:latin typeface="Arial" panose="020B0604020202020204" pitchFamily="34" charset="0"/>
                <a:ea typeface="TimesNewRoman"/>
                <a:cs typeface="Arial" panose="020B0604020202020204" pitchFamily="34" charset="0"/>
              </a:rPr>
              <a:t>Vutukuru</a:t>
            </a:r>
            <a:r>
              <a:rPr lang="en-US" sz="1800" dirty="0">
                <a:effectLst/>
                <a:latin typeface="Arial" panose="020B0604020202020204" pitchFamily="34" charset="0"/>
                <a:ea typeface="TimesNewRoman"/>
                <a:cs typeface="Arial" panose="020B0604020202020204" pitchFamily="34" charset="0"/>
              </a:rPr>
              <a:t>, K. S. (2021). Quantification of wind driven rain (</a:t>
            </a:r>
            <a:r>
              <a:rPr lang="en-US" sz="1800" dirty="0" err="1">
                <a:effectLst/>
                <a:latin typeface="Arial" panose="020B0604020202020204" pitchFamily="34" charset="0"/>
                <a:ea typeface="TimesNewRoman"/>
                <a:cs typeface="Arial" panose="020B0604020202020204" pitchFamily="34" charset="0"/>
              </a:rPr>
              <a:t>wdr</a:t>
            </a:r>
            <a:r>
              <a:rPr lang="en-US" sz="1800" dirty="0">
                <a:effectLst/>
                <a:latin typeface="Arial" panose="020B0604020202020204" pitchFamily="34" charset="0"/>
                <a:ea typeface="TimesNewRoman"/>
                <a:cs typeface="Arial" panose="020B0604020202020204" pitchFamily="34" charset="0"/>
              </a:rPr>
              <a:t>) intrusion through shuttered sliding glass door systems final report. https://doi.org/10.13140/RG.2.2.36806.86081</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07000"/>
              </a:lnSpc>
              <a:spcBef>
                <a:spcPts val="0"/>
              </a:spcBef>
              <a:spcAft>
                <a:spcPts val="0"/>
              </a:spcAft>
              <a:buFont typeface="+mj-lt"/>
              <a:buAutoNum type="arabicPeriod"/>
            </a:pPr>
            <a:r>
              <a:rPr lang="en-US" sz="1800" dirty="0">
                <a:effectLst/>
                <a:latin typeface="Arial" panose="020B0604020202020204" pitchFamily="34" charset="0"/>
                <a:ea typeface="TimesNewRoman"/>
                <a:cs typeface="Arial" panose="020B0604020202020204" pitchFamily="34" charset="0"/>
              </a:rPr>
              <a:t>International Code Council, Inc. (2017). “Testing Application Standard (TAS) 201-94 Impact Test Procedures.” </a:t>
            </a:r>
            <a:r>
              <a:rPr lang="en-US" sz="1800" i="1" dirty="0">
                <a:effectLst/>
                <a:latin typeface="Arial" panose="020B0604020202020204" pitchFamily="34" charset="0"/>
                <a:ea typeface="TimesNewRoman"/>
                <a:cs typeface="Arial" panose="020B0604020202020204" pitchFamily="34" charset="0"/>
              </a:rPr>
              <a:t>2017 Florida Building Code—Test Protocols for High Velocity Hurricane</a:t>
            </a:r>
            <a:r>
              <a:rPr lang="en-US" sz="1800" dirty="0">
                <a:effectLst/>
                <a:latin typeface="Arial" panose="020B0604020202020204" pitchFamily="34" charset="0"/>
                <a:ea typeface="TimesNewRoman"/>
                <a:cs typeface="Arial" panose="020B0604020202020204" pitchFamily="34" charset="0"/>
              </a:rPr>
              <a:t> </a:t>
            </a:r>
            <a:r>
              <a:rPr lang="en-US" sz="1800" i="1" dirty="0">
                <a:effectLst/>
                <a:latin typeface="Arial" panose="020B0604020202020204" pitchFamily="34" charset="0"/>
                <a:ea typeface="TimesNewRoman"/>
                <a:cs typeface="Arial" panose="020B0604020202020204" pitchFamily="34" charset="0"/>
              </a:rPr>
              <a:t>Zone</a:t>
            </a:r>
            <a:r>
              <a:rPr lang="en-US" sz="1800" dirty="0">
                <a:effectLst/>
                <a:latin typeface="Arial" panose="020B0604020202020204" pitchFamily="34" charset="0"/>
                <a:ea typeface="TimesNewRoman"/>
                <a:cs typeface="Arial" panose="020B0604020202020204" pitchFamily="34" charset="0"/>
              </a:rPr>
              <a:t>, 978-1-60983-688-7</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07000"/>
              </a:lnSpc>
              <a:spcBef>
                <a:spcPts val="0"/>
              </a:spcBef>
              <a:spcAft>
                <a:spcPts val="0"/>
              </a:spcAft>
              <a:buFont typeface="+mj-lt"/>
              <a:buAutoNum type="arabicPeriod"/>
            </a:pPr>
            <a:r>
              <a:rPr lang="en-US" sz="1800" dirty="0">
                <a:effectLst/>
                <a:latin typeface="Arial" panose="020B0604020202020204" pitchFamily="34" charset="0"/>
                <a:ea typeface="TimesNewRoman"/>
                <a:cs typeface="Arial" panose="020B0604020202020204" pitchFamily="34" charset="0"/>
              </a:rPr>
              <a:t>International Code Council, Inc. (2017). “Testing Application Standard (TAS) 202-94 Criteria for Testing Impact and Nonimpact Resistant Building Envelope Components Using Uniform Static Air Pressure” </a:t>
            </a:r>
            <a:r>
              <a:rPr lang="en-US" sz="1800" i="1" dirty="0">
                <a:effectLst/>
                <a:latin typeface="Arial" panose="020B0604020202020204" pitchFamily="34" charset="0"/>
                <a:ea typeface="TimesNewRoman"/>
                <a:cs typeface="Arial" panose="020B0604020202020204" pitchFamily="34" charset="0"/>
              </a:rPr>
              <a:t>2017 Florida Building Code—Test Protocols for High Velocity Hurricane Zone</a:t>
            </a:r>
            <a:r>
              <a:rPr lang="en-US" sz="1800" dirty="0">
                <a:effectLst/>
                <a:latin typeface="Arial" panose="020B0604020202020204" pitchFamily="34" charset="0"/>
                <a:ea typeface="TimesNewRoman"/>
                <a:cs typeface="Arial" panose="020B0604020202020204" pitchFamily="34" charset="0"/>
              </a:rPr>
              <a:t>, 978-1-60983-688-7.</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just">
              <a:lnSpc>
                <a:spcPct val="107000"/>
              </a:lnSpc>
              <a:spcBef>
                <a:spcPts val="0"/>
              </a:spcBef>
              <a:spcAft>
                <a:spcPts val="0"/>
              </a:spcAft>
              <a:buFont typeface="+mj-lt"/>
              <a:buAutoNum type="arabicPeriod"/>
            </a:pPr>
            <a:r>
              <a:rPr lang="en-US" sz="1800" dirty="0">
                <a:effectLst/>
                <a:latin typeface="Arial" panose="020B0604020202020204" pitchFamily="34" charset="0"/>
                <a:ea typeface="TimesNewRoman"/>
                <a:cs typeface="Arial" panose="020B0604020202020204" pitchFamily="34" charset="0"/>
              </a:rPr>
              <a:t>International Code Council, Inc. (2017). “Testing Application Standard (TAS) 203-94 Criteria for Testing Products Subject to Cyclic Wind Pressure Loading” </a:t>
            </a:r>
            <a:r>
              <a:rPr lang="en-US" sz="1800" i="1" dirty="0">
                <a:effectLst/>
                <a:latin typeface="Arial" panose="020B0604020202020204" pitchFamily="34" charset="0"/>
                <a:ea typeface="TimesNewRoman"/>
                <a:cs typeface="Arial" panose="020B0604020202020204" pitchFamily="34" charset="0"/>
              </a:rPr>
              <a:t>2017 Florida Building Code— Test Protocols for High Velocity</a:t>
            </a:r>
            <a:r>
              <a:rPr lang="en-US" sz="1800" i="1" dirty="0">
                <a:solidFill>
                  <a:srgbClr val="000000"/>
                </a:solidFill>
                <a:effectLst/>
                <a:latin typeface="Arial" panose="020B0604020202020204" pitchFamily="34" charset="0"/>
                <a:ea typeface="TimesNewRoman"/>
                <a:cs typeface="Arial" panose="020B0604020202020204" pitchFamily="34" charset="0"/>
              </a:rPr>
              <a:t>(Lopez, 2009)</a:t>
            </a:r>
            <a:r>
              <a:rPr lang="en-US" sz="1800" i="1" dirty="0">
                <a:effectLst/>
                <a:latin typeface="Arial" panose="020B0604020202020204" pitchFamily="34" charset="0"/>
                <a:ea typeface="TimesNewRoman"/>
                <a:cs typeface="Arial" panose="020B0604020202020204" pitchFamily="34" charset="0"/>
              </a:rPr>
              <a:t> Hurricane Zone</a:t>
            </a:r>
            <a:r>
              <a:rPr lang="en-US" sz="1800" dirty="0">
                <a:effectLst/>
                <a:latin typeface="Arial" panose="020B0604020202020204" pitchFamily="34" charset="0"/>
                <a:ea typeface="TimesNewRoman"/>
                <a:cs typeface="Arial" panose="020B0604020202020204" pitchFamily="34" charset="0"/>
              </a:rPr>
              <a:t>, 978-1-60983-688-7.</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just">
              <a:lnSpc>
                <a:spcPct val="107000"/>
              </a:lnSpc>
              <a:spcBef>
                <a:spcPts val="0"/>
              </a:spcBef>
              <a:spcAft>
                <a:spcPts val="0"/>
              </a:spcAft>
              <a:buFont typeface="+mj-lt"/>
              <a:buAutoNum type="arabicPeriod"/>
            </a:pPr>
            <a:r>
              <a:rPr lang="en-US" sz="1800" dirty="0" err="1">
                <a:effectLst/>
                <a:latin typeface="Arial" panose="020B0604020202020204" pitchFamily="34" charset="0"/>
                <a:ea typeface="Times New Roman" panose="02020603050405020304" pitchFamily="18" charset="0"/>
                <a:cs typeface="Arial" panose="020B0604020202020204" pitchFamily="34" charset="0"/>
              </a:rPr>
              <a:t>Catarelli</a:t>
            </a:r>
            <a:r>
              <a:rPr lang="en-US" sz="1800" dirty="0">
                <a:effectLst/>
                <a:latin typeface="Arial" panose="020B0604020202020204" pitchFamily="34" charset="0"/>
                <a:ea typeface="Times New Roman" panose="02020603050405020304" pitchFamily="18" charset="0"/>
                <a:cs typeface="Arial" panose="020B0604020202020204" pitchFamily="34" charset="0"/>
              </a:rPr>
              <a:t>, R. A., &amp; Phillips, B. M. (2023) </a:t>
            </a:r>
            <a:r>
              <a:rPr lang="en-US" sz="1800" i="1" dirty="0">
                <a:effectLst/>
                <a:latin typeface="Arial" panose="020B0604020202020204" pitchFamily="34" charset="0"/>
                <a:ea typeface="Times New Roman" panose="02020603050405020304" pitchFamily="18" charset="0"/>
                <a:cs typeface="Arial" panose="020B0604020202020204" pitchFamily="34" charset="0"/>
              </a:rPr>
              <a:t>Final Report for Project Entitled: Assessing the Need to Modernize Water Penetration Resistance Test Procedures PO Number C07078 Presented to the Florida Building Commission State of Florida Department of Business and Professional Regulation Principal Investigator</a:t>
            </a:r>
            <a:r>
              <a:rPr lang="en-US" sz="1800" dirty="0">
                <a:effectLst/>
                <a:latin typeface="Arial" panose="020B0604020202020204" pitchFamily="34" charset="0"/>
                <a:ea typeface="Times New Roman" panose="02020603050405020304" pitchFamily="18" charset="0"/>
                <a:cs typeface="Arial" panose="020B0604020202020204" pitchFamily="34" charset="0"/>
              </a:rPr>
              <a:t>.</a:t>
            </a:r>
            <a:endParaRPr lang="en-US" sz="18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just">
              <a:lnSpc>
                <a:spcPct val="107000"/>
              </a:lnSpc>
              <a:spcBef>
                <a:spcPts val="0"/>
              </a:spcBef>
              <a:spcAft>
                <a:spcPts val="0"/>
              </a:spcAft>
              <a:buFont typeface="+mj-lt"/>
              <a:buAutoNum type="arabicPeriod"/>
            </a:pPr>
            <a:r>
              <a:rPr lang="en-US" sz="1800" dirty="0">
                <a:effectLst/>
                <a:latin typeface="Arial" panose="020B0604020202020204" pitchFamily="34" charset="0"/>
                <a:ea typeface="TimesNewRoman"/>
                <a:cs typeface="Arial" panose="020B0604020202020204" pitchFamily="34" charset="0"/>
              </a:rPr>
              <a:t>Florida Senate. (2024). </a:t>
            </a:r>
            <a:r>
              <a:rPr lang="en-US" sz="1800" i="1" dirty="0">
                <a:effectLst/>
                <a:latin typeface="Arial" panose="020B0604020202020204" pitchFamily="34" charset="0"/>
                <a:ea typeface="TimesNewRoman"/>
                <a:cs typeface="Arial" panose="020B0604020202020204" pitchFamily="34" charset="0"/>
              </a:rPr>
              <a:t>Bill 1178: Property insurance—2024 regular session.</a:t>
            </a:r>
            <a:r>
              <a:rPr lang="en-US" sz="1800" dirty="0">
                <a:effectLst/>
                <a:latin typeface="Arial" panose="020B0604020202020204" pitchFamily="34" charset="0"/>
                <a:ea typeface="TimesNewRoman"/>
                <a:cs typeface="Arial" panose="020B0604020202020204" pitchFamily="34" charset="0"/>
              </a:rPr>
              <a:t> </a:t>
            </a:r>
            <a:r>
              <a:rPr lang="en-US" sz="1800" u="sng" dirty="0">
                <a:solidFill>
                  <a:srgbClr val="467886"/>
                </a:solidFill>
                <a:effectLst/>
                <a:latin typeface="Arial" panose="020B0604020202020204" pitchFamily="34" charset="0"/>
                <a:ea typeface="TimesNewRoman"/>
                <a:cs typeface="Arial" panose="020B0604020202020204" pitchFamily="34" charset="0"/>
                <a:hlinkClick r:id="rId2"/>
              </a:rPr>
              <a:t>https://www.flsenate.gov/Session/Bill/2024/01178</a:t>
            </a:r>
            <a:endParaRPr lang="en-US" sz="1800" dirty="0">
              <a:effectLst/>
              <a:latin typeface="Aptos" panose="020B0004020202020204" pitchFamily="34" charset="0"/>
              <a:ea typeface="Aptos" panose="020B00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C9FCADA4-5597-C5B7-264C-DCFAEBB23DA5}"/>
              </a:ext>
            </a:extLst>
          </p:cNvPr>
          <p:cNvSpPr/>
          <p:nvPr/>
        </p:nvSpPr>
        <p:spPr>
          <a:xfrm>
            <a:off x="0" y="-6350"/>
            <a:ext cx="12192000" cy="806450"/>
          </a:xfrm>
          <a:prstGeom prst="rect">
            <a:avLst/>
          </a:prstGeom>
          <a:solidFill>
            <a:srgbClr val="081E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just">
              <a:spcBef>
                <a:spcPts val="0"/>
              </a:spcBef>
              <a:spcAft>
                <a:spcPts val="0"/>
              </a:spcAft>
              <a:tabLst>
                <a:tab pos="2971800" algn="ctr"/>
                <a:tab pos="5943600" algn="r"/>
                <a:tab pos="457200" algn="l"/>
              </a:tabLst>
            </a:pPr>
            <a:r>
              <a:rPr lang="en-US" sz="1100" b="1" cap="all">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100">
              <a:solidFill>
                <a:schemeClr val="tx1"/>
              </a:solidFill>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BDCDA22A-9D57-67B3-8F17-2F65158FBC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4184" y="72946"/>
            <a:ext cx="2367806" cy="679263"/>
          </a:xfrm>
          <a:prstGeom prst="rect">
            <a:avLst/>
          </a:prstGeom>
        </p:spPr>
      </p:pic>
      <p:cxnSp>
        <p:nvCxnSpPr>
          <p:cNvPr id="5" name="Straight Connector 4">
            <a:extLst>
              <a:ext uri="{FF2B5EF4-FFF2-40B4-BE49-F238E27FC236}">
                <a16:creationId xmlns:a16="http://schemas.microsoft.com/office/drawing/2014/main" id="{37BAAB64-63D0-90A8-7DDF-5CDA7C361FF2}"/>
              </a:ext>
            </a:extLst>
          </p:cNvPr>
          <p:cNvCxnSpPr/>
          <p:nvPr/>
        </p:nvCxnSpPr>
        <p:spPr bwMode="auto">
          <a:xfrm>
            <a:off x="-1" y="6830621"/>
            <a:ext cx="12192000" cy="0"/>
          </a:xfrm>
          <a:prstGeom prst="line">
            <a:avLst/>
          </a:prstGeom>
          <a:ln w="76200" cmpd="sng">
            <a:solidFill>
              <a:srgbClr val="00006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043D8B7-8BF5-08BB-98B4-F51BF60A3698}"/>
              </a:ext>
            </a:extLst>
          </p:cNvPr>
          <p:cNvSpPr txBox="1"/>
          <p:nvPr/>
        </p:nvSpPr>
        <p:spPr>
          <a:xfrm>
            <a:off x="60010" y="121352"/>
            <a:ext cx="9928447" cy="58477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bg1"/>
                </a:solidFill>
                <a:effectLst/>
                <a:uLnTx/>
                <a:uFillTx/>
                <a:latin typeface="Calibri" panose="020F0502020204030204"/>
                <a:ea typeface="+mn-ea"/>
                <a:cs typeface="+mn-cs"/>
              </a:rPr>
              <a:t>References</a:t>
            </a:r>
          </a:p>
        </p:txBody>
      </p:sp>
      <p:sp>
        <p:nvSpPr>
          <p:cNvPr id="7" name="TextBox 6">
            <a:extLst>
              <a:ext uri="{FF2B5EF4-FFF2-40B4-BE49-F238E27FC236}">
                <a16:creationId xmlns:a16="http://schemas.microsoft.com/office/drawing/2014/main" id="{79CD0F75-98BB-9965-00A3-C0F3ED126D0D}"/>
              </a:ext>
            </a:extLst>
          </p:cNvPr>
          <p:cNvSpPr txBox="1"/>
          <p:nvPr/>
        </p:nvSpPr>
        <p:spPr>
          <a:xfrm>
            <a:off x="11700769" y="6442649"/>
            <a:ext cx="491230" cy="369332"/>
          </a:xfrm>
          <a:prstGeom prst="rect">
            <a:avLst/>
          </a:prstGeom>
          <a:noFill/>
        </p:spPr>
        <p:txBody>
          <a:bodyPr wrap="square" rtlCol="0">
            <a:spAutoFit/>
          </a:bodyPr>
          <a:lstStyle/>
          <a:p>
            <a:r>
              <a:rPr lang="en-US" dirty="0"/>
              <a:t>12</a:t>
            </a:r>
          </a:p>
        </p:txBody>
      </p:sp>
    </p:spTree>
    <p:extLst>
      <p:ext uri="{BB962C8B-B14F-4D97-AF65-F5344CB8AC3E}">
        <p14:creationId xmlns:p14="http://schemas.microsoft.com/office/powerpoint/2010/main" val="4091032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5B04F-42E4-6CE0-5CC1-9DF5B26CBA33}"/>
            </a:ext>
          </a:extLst>
        </p:cNvPr>
        <p:cNvGrpSpPr/>
        <p:nvPr/>
      </p:nvGrpSpPr>
      <p:grpSpPr>
        <a:xfrm>
          <a:off x="0" y="0"/>
          <a:ext cx="0" cy="0"/>
          <a:chOff x="0" y="0"/>
          <a:chExt cx="0" cy="0"/>
        </a:xfrm>
      </p:grpSpPr>
      <p:sp>
        <p:nvSpPr>
          <p:cNvPr id="110" name="TextBox 109">
            <a:extLst>
              <a:ext uri="{FF2B5EF4-FFF2-40B4-BE49-F238E27FC236}">
                <a16:creationId xmlns:a16="http://schemas.microsoft.com/office/drawing/2014/main" id="{473FC7B0-B0BF-0303-91B9-B3D935E8B5D1}"/>
              </a:ext>
            </a:extLst>
          </p:cNvPr>
          <p:cNvSpPr txBox="1"/>
          <p:nvPr/>
        </p:nvSpPr>
        <p:spPr>
          <a:xfrm>
            <a:off x="11753850" y="6442649"/>
            <a:ext cx="438149" cy="369332"/>
          </a:xfrm>
          <a:prstGeom prst="rect">
            <a:avLst/>
          </a:prstGeom>
          <a:noFill/>
        </p:spPr>
        <p:txBody>
          <a:bodyPr wrap="square" rtlCol="0">
            <a:spAutoFit/>
          </a:bodyPr>
          <a:lstStyle/>
          <a:p>
            <a:r>
              <a:rPr lang="en-US" dirty="0"/>
              <a:t>13</a:t>
            </a:r>
          </a:p>
        </p:txBody>
      </p:sp>
      <p:sp>
        <p:nvSpPr>
          <p:cNvPr id="5" name="Rectangle 4">
            <a:extLst>
              <a:ext uri="{FF2B5EF4-FFF2-40B4-BE49-F238E27FC236}">
                <a16:creationId xmlns:a16="http://schemas.microsoft.com/office/drawing/2014/main" id="{3B7E1FB1-1172-744F-6550-8E017919BF31}"/>
              </a:ext>
            </a:extLst>
          </p:cNvPr>
          <p:cNvSpPr/>
          <p:nvPr/>
        </p:nvSpPr>
        <p:spPr>
          <a:xfrm>
            <a:off x="0" y="-6350"/>
            <a:ext cx="12192000" cy="806450"/>
          </a:xfrm>
          <a:prstGeom prst="rect">
            <a:avLst/>
          </a:prstGeom>
          <a:solidFill>
            <a:srgbClr val="081E3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just">
              <a:spcBef>
                <a:spcPts val="0"/>
              </a:spcBef>
              <a:spcAft>
                <a:spcPts val="0"/>
              </a:spcAft>
              <a:tabLst>
                <a:tab pos="2971800" algn="ctr"/>
                <a:tab pos="5943600" algn="r"/>
                <a:tab pos="457200" algn="l"/>
              </a:tabLst>
            </a:pPr>
            <a:r>
              <a:rPr lang="en-US" sz="1100" b="1" cap="all">
                <a:solidFill>
                  <a:srgbClr val="FFFFFF"/>
                </a:solidFill>
                <a:effectLst/>
                <a:latin typeface="Cambria" panose="02040503050406030204" pitchFamily="18" charset="0"/>
                <a:ea typeface="Calibri" panose="020F0502020204030204" pitchFamily="34" charset="0"/>
                <a:cs typeface="Times New Roman" panose="02020603050405020304" pitchFamily="18" charset="0"/>
              </a:rPr>
              <a:t>     </a:t>
            </a:r>
            <a:endParaRPr lang="en-US" sz="1100">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068980B2-2DA0-BE48-1477-17EE33BFBD0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4184" y="72946"/>
            <a:ext cx="2367806" cy="679263"/>
          </a:xfrm>
          <a:prstGeom prst="rect">
            <a:avLst/>
          </a:prstGeom>
        </p:spPr>
      </p:pic>
      <p:sp>
        <p:nvSpPr>
          <p:cNvPr id="2" name="TextBox 1">
            <a:extLst>
              <a:ext uri="{FF2B5EF4-FFF2-40B4-BE49-F238E27FC236}">
                <a16:creationId xmlns:a16="http://schemas.microsoft.com/office/drawing/2014/main" id="{AC55AC87-AA42-8097-4185-665E70DF6ADB}"/>
              </a:ext>
            </a:extLst>
          </p:cNvPr>
          <p:cNvSpPr txBox="1"/>
          <p:nvPr/>
        </p:nvSpPr>
        <p:spPr>
          <a:xfrm>
            <a:off x="4381500" y="2875002"/>
            <a:ext cx="3860800" cy="1107996"/>
          </a:xfrm>
          <a:prstGeom prst="rect">
            <a:avLst/>
          </a:prstGeom>
          <a:noFill/>
        </p:spPr>
        <p:txBody>
          <a:bodyPr wrap="square" rtlCol="0">
            <a:spAutoFit/>
          </a:bodyPr>
          <a:lstStyle/>
          <a:p>
            <a:r>
              <a:rPr lang="en-US" sz="6600" b="1" dirty="0"/>
              <a:t>Thank You</a:t>
            </a:r>
          </a:p>
        </p:txBody>
      </p:sp>
      <p:cxnSp>
        <p:nvCxnSpPr>
          <p:cNvPr id="3" name="Straight Connector 2">
            <a:extLst>
              <a:ext uri="{FF2B5EF4-FFF2-40B4-BE49-F238E27FC236}">
                <a16:creationId xmlns:a16="http://schemas.microsoft.com/office/drawing/2014/main" id="{1F1C21F9-FF16-71D4-729D-9591B1554B7C}"/>
              </a:ext>
            </a:extLst>
          </p:cNvPr>
          <p:cNvCxnSpPr/>
          <p:nvPr/>
        </p:nvCxnSpPr>
        <p:spPr bwMode="auto">
          <a:xfrm>
            <a:off x="-1" y="6830621"/>
            <a:ext cx="12192000" cy="0"/>
          </a:xfrm>
          <a:prstGeom prst="line">
            <a:avLst/>
          </a:prstGeom>
          <a:ln w="76200" cmpd="sng">
            <a:solidFill>
              <a:srgbClr val="0000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8462595"/>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4382</TotalTime>
  <Words>1442</Words>
  <Application>Microsoft Office PowerPoint</Application>
  <PresentationFormat>Widescreen</PresentationFormat>
  <Paragraphs>102</Paragraphs>
  <Slides>13</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Calibri Light</vt:lpstr>
      <vt:lpstr>Cambria</vt:lpstr>
      <vt:lpstr>Segoe UI</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Omar Nofal</dc:creator>
  <cp:lastModifiedBy>Mostafa Sameer</cp:lastModifiedBy>
  <cp:revision>51</cp:revision>
  <dcterms:created xsi:type="dcterms:W3CDTF">2024-04-15T00:57:02Z</dcterms:created>
  <dcterms:modified xsi:type="dcterms:W3CDTF">2024-09-21T17:43:39Z</dcterms:modified>
</cp:coreProperties>
</file>